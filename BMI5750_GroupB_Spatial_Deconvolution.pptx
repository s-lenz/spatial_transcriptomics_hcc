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1_D2298A40.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2_40717854.xml" ContentType="application/vnd.ms-powerpoint.comments+xml"/>
  <Override PartName="/ppt/comments/modernComment_112_38768AEC.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8" r:id="rId3"/>
    <p:sldId id="257" r:id="rId4"/>
    <p:sldId id="269" r:id="rId5"/>
    <p:sldId id="270" r:id="rId6"/>
    <p:sldId id="271" r:id="rId7"/>
    <p:sldId id="272" r:id="rId8"/>
    <p:sldId id="273" r:id="rId9"/>
    <p:sldId id="276" r:id="rId10"/>
    <p:sldId id="277" r:id="rId11"/>
    <p:sldId id="258" r:id="rId12"/>
    <p:sldId id="274" r:id="rId13"/>
    <p:sldId id="25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A3DF506-2F5B-B4E6-9310-3D79C07B4B3E}" name="Zoller, Kate" initials="ZK" userId="S::zoller.48@buckeyemail.osu.edu::da6c51f2-8470-4dbf-94a5-b409717dc685" providerId="AD"/>
  <p188:author id="{38A33928-8BC5-7DD2-9FDA-3A42487CD44A}" name="Aladyeva, Katya" initials="AK" userId="S::aladyeva.1@buckeyemail.osu.edu::d49b4d3c-265c-43c9-a21a-cf5e8837ca0e" providerId="AD"/>
  <p188:author id="{C13B4BC9-0F6F-11F4-3517-EC956448BA9B}" name="Lenz, Sidney" initials="LS" userId="S::lenz.96@buckeyemail.osu.edu::ae3d1aec-d31d-432c-a757-662d7eb2c4a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BCC493-A0A6-BB6E-5EEE-82DF98B6C27B}" v="62" dt="2026-07-15T23:37:26.626"/>
    <p1510:client id="{7DCFF256-6D30-044D-99A8-D18939131F35}" v="22" dt="2026-07-16T01:45:17.112"/>
    <p1510:client id="{A157F8F6-A1B2-C3D6-542F-22766314CD38}" v="3" dt="2026-07-15T23:09:09.238"/>
    <p1510:client id="{A5808B62-9E44-95C2-511D-B1DB317F5656}" v="15" dt="2026-07-16T14:43:52.035"/>
    <p1510:client id="{C0AA5951-A83E-44FC-D26B-B63758159030}" v="32" dt="2026-07-15T18:15:41.591"/>
    <p1510:client id="{C2823A51-972C-4117-28C9-9945856F5797}" v="7" dt="2026-07-15T15:30:36.587"/>
    <p1510:client id="{D1CA4983-6DEB-AB79-5FCB-8AEE7D9B4B9D}" v="16" dt="2026-07-15T23:35:39.420"/>
    <p1510:client id="{EB57652F-3A2A-E588-FE9F-21E7C8825494}" v="741" dt="2026-07-16T13:47:09.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1_D2298A40.xml><?xml version="1.0" encoding="utf-8"?>
<p188:cmLst xmlns:a="http://schemas.openxmlformats.org/drawingml/2006/main" xmlns:r="http://schemas.openxmlformats.org/officeDocument/2006/relationships" xmlns:p188="http://schemas.microsoft.com/office/powerpoint/2018/8/main">
  <p188:cm id="{CFA9DADB-B0BC-4980-BA8D-13DD237D22B5}" authorId="{38A33928-8BC5-7DD2-9FDA-3A42487CD44A}" created="2026-07-12T20:29:36.559">
    <pc:sldMkLst xmlns:pc="http://schemas.microsoft.com/office/powerpoint/2013/main/command">
      <pc:docMk/>
      <pc:sldMk cId="3525937728" sldId="257"/>
    </pc:sldMkLst>
    <p188:txBody>
      <a:bodyPr/>
      <a:lstStyle/>
      <a:p>
        <a:r>
          <a:rPr lang="en-US"/>
          <a:t>We should mention that all this is only for 10X Visium standard resolution (as there are multiple spatial transcriptomics technologies)</a:t>
        </a:r>
      </a:p>
    </p188:txBody>
  </p188:cm>
</p188:cmLst>
</file>

<file path=ppt/comments/modernComment_102_40717854.xml><?xml version="1.0" encoding="utf-8"?>
<p188:cmLst xmlns:a="http://schemas.openxmlformats.org/drawingml/2006/main" xmlns:r="http://schemas.openxmlformats.org/officeDocument/2006/relationships" xmlns:p188="http://schemas.microsoft.com/office/powerpoint/2018/8/main">
  <p188:cm id="{816F9428-D601-45C9-8D5B-A3FC5AB13E82}" authorId="{C13B4BC9-0F6F-11F4-3517-EC956448BA9B}" created="2026-07-14T18:45:34.131">
    <ac:txMkLst xmlns:ac="http://schemas.microsoft.com/office/drawing/2013/main/command">
      <pc:docMk xmlns:pc="http://schemas.microsoft.com/office/powerpoint/2013/main/command"/>
      <pc:sldMk xmlns:pc="http://schemas.microsoft.com/office/powerpoint/2013/main/command" cId="1081178196" sldId="258"/>
      <ac:spMk id="3" creationId="{70A6109E-4FAA-35D9-E4F5-8988FBC4D7C4}"/>
      <ac:txMk cp="498" len="4">
        <ac:context len="514" hash="1024985016"/>
      </ac:txMk>
    </ac:txMkLst>
    <p188:pos x="3287485" y="3693885"/>
    <p188:txBody>
      <a:bodyPr/>
      <a:lstStyle/>
      <a:p>
        <a:r>
          <a:rPr lang="en-US"/>
          <a:t>"maximum likelihood estimation" - finds parameters to maximize the likelihood of the observed data </a:t>
        </a:r>
      </a:p>
    </p188:txBody>
  </p188:cm>
</p188:cmLst>
</file>

<file path=ppt/comments/modernComment_112_38768AEC.xml><?xml version="1.0" encoding="utf-8"?>
<p188:cmLst xmlns:a="http://schemas.openxmlformats.org/drawingml/2006/main" xmlns:r="http://schemas.openxmlformats.org/officeDocument/2006/relationships" xmlns:p188="http://schemas.microsoft.com/office/powerpoint/2018/8/main">
  <p188:cm id="{CC1BE087-2AB7-4AC8-B5A0-4C43BE42BDEE}" authorId="{7A3DF506-2F5B-B4E6-9310-3D79C07B4B3E}" created="2026-07-15T12:57:03.709">
    <ac:txMkLst xmlns:ac="http://schemas.microsoft.com/office/drawing/2013/main/command">
      <pc:docMk xmlns:pc="http://schemas.microsoft.com/office/powerpoint/2013/main/command"/>
      <pc:sldMk xmlns:pc="http://schemas.microsoft.com/office/powerpoint/2013/main/command" cId="947292908" sldId="274"/>
      <ac:spMk id="3" creationId="{C8BB5730-8FA1-10F5-8FC6-EBAF89038FAA}"/>
      <ac:txMk cp="0" len="116">
        <ac:context len="117" hash="2924548512"/>
      </ac:txMk>
    </ac:txMkLst>
    <p188:pos x="1763485" y="2518228"/>
    <p188:txBody>
      <a:bodyPr/>
      <a:lstStyle/>
      <a:p>
        <a:r>
          <a:rPr lang="en-US"/>
          <a:t>Should these points be given in the Results section as examples of how spatial can be used to answer certain questions?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536BC-E52C-4F7C-A714-31C27E1A13F0}" type="datetimeFigureOut">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49B46B-0C2B-4E31-B6E7-FD7207BEE059}" type="slidenum">
              <a:t>‹#›</a:t>
            </a:fld>
            <a:endParaRPr lang="en-US"/>
          </a:p>
        </p:txBody>
      </p:sp>
    </p:spTree>
    <p:extLst>
      <p:ext uri="{BB962C8B-B14F-4D97-AF65-F5344CB8AC3E}">
        <p14:creationId xmlns:p14="http://schemas.microsoft.com/office/powerpoint/2010/main" val="2111701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a:t>
            </a:r>
            <a:r>
              <a:rPr lang="en-US" b="1"/>
              <a:t>spots are not cells.</a:t>
            </a:r>
            <a:endParaRPr lang="en-US"/>
          </a:p>
          <a:p>
            <a:r>
              <a:rPr lang="en-US"/>
              <a:t>For </a:t>
            </a:r>
            <a:r>
              <a:rPr lang="en-US" err="1"/>
              <a:t>Visium</a:t>
            </a:r>
            <a:r>
              <a:rPr lang="en-US"/>
              <a:t>:</a:t>
            </a:r>
            <a:endParaRPr lang="en-US">
              <a:ea typeface="Calibri"/>
              <a:cs typeface="Calibri"/>
            </a:endParaRPr>
          </a:p>
          <a:p>
            <a:pPr marL="285750" indent="-285750">
              <a:buFont typeface="Arial"/>
              <a:buChar char="•"/>
            </a:pPr>
            <a:r>
              <a:rPr lang="en-US"/>
              <a:t>spot diameter ≈55 </a:t>
            </a:r>
            <a:r>
              <a:rPr lang="en-US" err="1"/>
              <a:t>μm</a:t>
            </a:r>
            <a:endParaRPr lang="en-US" err="1">
              <a:ea typeface="Calibri"/>
              <a:cs typeface="Calibri"/>
            </a:endParaRPr>
          </a:p>
          <a:p>
            <a:pPr marL="285750" indent="-285750">
              <a:buFont typeface="Arial"/>
              <a:buChar char="•"/>
            </a:pPr>
            <a:r>
              <a:rPr lang="en-US"/>
              <a:t>Each spot contains multiple cells</a:t>
            </a:r>
          </a:p>
          <a:p>
            <a:pPr marL="285750" indent="-285750">
              <a:buFont typeface="Arial"/>
              <a:buChar char="•"/>
            </a:pPr>
            <a:r>
              <a:rPr lang="en-US"/>
              <a:t>typically anywhere from 1–10+ cells depending on tissue density</a:t>
            </a:r>
            <a:endParaRPr lang="en-US">
              <a:ea typeface="Calibri"/>
              <a:cs typeface="Calibri"/>
            </a:endParaRPr>
          </a:p>
          <a:p>
            <a:r>
              <a:rPr lang="en-US"/>
              <a:t>Therefore,</a:t>
            </a:r>
          </a:p>
          <a:p>
            <a:r>
              <a:rPr lang="en-US"/>
              <a:t>Observed counts are mixtures:</a:t>
            </a:r>
          </a:p>
          <a:p>
            <a:r>
              <a:rPr lang="en-US" err="1"/>
              <a:t>Yspot</a:t>
            </a:r>
            <a:r>
              <a:rPr lang="en-US"/>
              <a:t>=Ycell1+Ycell2+Ycell3+...</a:t>
            </a:r>
            <a:endParaRPr lang="en-US">
              <a:ea typeface="Calibri"/>
              <a:cs typeface="Calibri"/>
            </a:endParaRPr>
          </a:p>
          <a:p>
            <a:endParaRPr lang="en-US">
              <a:ea typeface="Calibri"/>
              <a:cs typeface="Calibri"/>
            </a:endParaRPr>
          </a:p>
          <a:p>
            <a:r>
              <a:rPr lang="en-US">
                <a:ea typeface="Calibri"/>
                <a:cs typeface="Calibri"/>
              </a:rPr>
              <a:t>But we don't know the proportions of cell types on each spot. </a:t>
            </a:r>
            <a:endParaRPr lang="en-US"/>
          </a:p>
          <a:p>
            <a:endParaRPr lang="en-US"/>
          </a:p>
          <a:p>
            <a:r>
              <a:rPr lang="en-US"/>
              <a:t>Spatial deconvolution is a computational technique used in spatial transcriptomics to untangle mixed gene expression signals in order to estimate those proportions . </a:t>
            </a:r>
            <a:endParaRPr lang="en-US">
              <a:ea typeface="Calibri"/>
              <a:cs typeface="Calibri"/>
            </a:endParaRPr>
          </a:p>
          <a:p>
            <a:endParaRPr lang="en-US">
              <a:ea typeface="Calibri"/>
              <a:cs typeface="Calibri"/>
            </a:endParaRPr>
          </a:p>
          <a:p>
            <a:r>
              <a:rPr lang="en-US">
                <a:ea typeface="Calibri"/>
                <a:cs typeface="Calibri"/>
              </a:rPr>
              <a:t>It uses a single cell RNA sequencing database as a reference to estimate the proportion of cell types on each spot. </a:t>
            </a:r>
          </a:p>
        </p:txBody>
      </p:sp>
      <p:sp>
        <p:nvSpPr>
          <p:cNvPr id="4" name="Slide Number Placeholder 3"/>
          <p:cNvSpPr>
            <a:spLocks noGrp="1"/>
          </p:cNvSpPr>
          <p:nvPr>
            <p:ph type="sldNum" sz="quarter" idx="5"/>
          </p:nvPr>
        </p:nvSpPr>
        <p:spPr/>
        <p:txBody>
          <a:bodyPr/>
          <a:lstStyle/>
          <a:p>
            <a:fld id="{8849B46B-0C2B-4E31-B6E7-FD7207BEE059}" type="slidenum">
              <a:t>8</a:t>
            </a:fld>
            <a:endParaRPr lang="en-US"/>
          </a:p>
        </p:txBody>
      </p:sp>
    </p:spTree>
    <p:extLst>
      <p:ext uri="{BB962C8B-B14F-4D97-AF65-F5344CB8AC3E}">
        <p14:creationId xmlns:p14="http://schemas.microsoft.com/office/powerpoint/2010/main" val="1665647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RCTD Deconvolution – the tool we are using is called Robust Cell Type Decomposition which again is used to detangle these mixed gene expression data from each spot </a:t>
            </a:r>
          </a:p>
          <a:p>
            <a:endParaRPr lang="en-US">
              <a:ea typeface="Calibri"/>
              <a:cs typeface="Calibri"/>
            </a:endParaRPr>
          </a:p>
          <a:p>
            <a:r>
              <a:rPr lang="en-US">
                <a:ea typeface="Calibri"/>
                <a:cs typeface="Calibri"/>
              </a:rPr>
              <a:t>We have our spot that measures the expression of genes. To keep it simple, let's say that we have two genes that our spot is measuring and that both of the genes that the spot is detecting have a combined medium expression. Based on the single cell RNA sequencing reference data, it seems like we have a mixture of the two cell types, but we don't know in what proportions. </a:t>
            </a:r>
          </a:p>
          <a:p>
            <a:endParaRPr lang="en-US"/>
          </a:p>
          <a:p>
            <a:r>
              <a:rPr lang="en-US"/>
              <a:t>Mathematically, we can represent this as:</a:t>
            </a:r>
            <a:endParaRPr lang="en-US">
              <a:ea typeface="Calibri"/>
              <a:cs typeface="Calibri"/>
            </a:endParaRPr>
          </a:p>
          <a:p>
            <a:r>
              <a:rPr lang="en-US"/>
              <a:t>Y=</a:t>
            </a:r>
            <a:r>
              <a:rPr lang="en-US" err="1"/>
              <a:t>Xw</a:t>
            </a:r>
            <a:endParaRPr lang="en-US" err="1">
              <a:ea typeface="Calibri"/>
              <a:cs typeface="Calibri"/>
            </a:endParaRPr>
          </a:p>
          <a:p>
            <a:r>
              <a:rPr lang="en-US"/>
              <a:t>where</a:t>
            </a:r>
            <a:endParaRPr lang="en-US">
              <a:ea typeface="Calibri"/>
              <a:cs typeface="Calibri"/>
            </a:endParaRPr>
          </a:p>
          <a:p>
            <a:pPr marL="285750" indent="-285750">
              <a:buFont typeface="Arial"/>
              <a:buChar char="•"/>
            </a:pPr>
            <a:r>
              <a:rPr lang="en-US" b="1"/>
              <a:t>Y</a:t>
            </a:r>
            <a:r>
              <a:rPr lang="en-US"/>
              <a:t> = observed spatial counts</a:t>
            </a:r>
          </a:p>
          <a:p>
            <a:pPr marL="285750" indent="-285750">
              <a:buFont typeface="Arial"/>
              <a:buChar char="•"/>
            </a:pPr>
            <a:r>
              <a:rPr lang="en-US" b="1"/>
              <a:t>X</a:t>
            </a:r>
            <a:r>
              <a:rPr lang="en-US"/>
              <a:t> = reference expression profiles</a:t>
            </a:r>
          </a:p>
          <a:p>
            <a:pPr marL="285750" indent="-285750">
              <a:buFont typeface="Arial"/>
              <a:buChar char="•"/>
            </a:pPr>
            <a:r>
              <a:rPr lang="en-US" b="1"/>
              <a:t>w</a:t>
            </a:r>
            <a:r>
              <a:rPr lang="en-US"/>
              <a:t> = unknown cell type proportions</a:t>
            </a:r>
          </a:p>
          <a:p>
            <a:r>
              <a:rPr lang="en-US"/>
              <a:t>The goal is simply to estimate </a:t>
            </a:r>
            <a:r>
              <a:rPr lang="en-US" b="1"/>
              <a:t>w</a:t>
            </a:r>
            <a:r>
              <a:rPr lang="en-US"/>
              <a:t>.</a:t>
            </a:r>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8849B46B-0C2B-4E31-B6E7-FD7207BEE059}" type="slidenum">
              <a:t>9</a:t>
            </a:fld>
            <a:endParaRPr lang="en-US"/>
          </a:p>
        </p:txBody>
      </p:sp>
    </p:spTree>
    <p:extLst>
      <p:ext uri="{BB962C8B-B14F-4D97-AF65-F5344CB8AC3E}">
        <p14:creationId xmlns:p14="http://schemas.microsoft.com/office/powerpoint/2010/main" val="4076549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RCTD uses two datasets:</a:t>
            </a:r>
          </a:p>
          <a:p>
            <a:endParaRPr lang="en-US">
              <a:ea typeface="Calibri"/>
              <a:cs typeface="Calibri"/>
            </a:endParaRPr>
          </a:p>
          <a:p>
            <a:r>
              <a:rPr lang="en-US"/>
              <a:t>Spatial transcriptomics</a:t>
            </a:r>
          </a:p>
          <a:p>
            <a:pPr marL="171450" indent="-171450">
              <a:buFont typeface="Arial"/>
              <a:buChar char="•"/>
            </a:pPr>
            <a:r>
              <a:rPr lang="en-US"/>
              <a:t>mixed spots</a:t>
            </a:r>
          </a:p>
          <a:p>
            <a:pPr marL="171450" indent="-171450">
              <a:buFont typeface="Arial"/>
              <a:buChar char="•"/>
            </a:pPr>
            <a:r>
              <a:rPr lang="en-US"/>
              <a:t>coordinates</a:t>
            </a:r>
          </a:p>
          <a:p>
            <a:pPr marL="171450" indent="-171450">
              <a:buFont typeface="Arial"/>
              <a:buChar char="•"/>
            </a:pPr>
            <a:r>
              <a:rPr lang="en-US"/>
              <a:t>counts</a:t>
            </a:r>
          </a:p>
          <a:p>
            <a:endParaRPr lang="en-US">
              <a:ea typeface="Calibri"/>
              <a:cs typeface="Calibri"/>
            </a:endParaRPr>
          </a:p>
          <a:p>
            <a:r>
              <a:rPr lang="en-US"/>
              <a:t>Single-cell RNA-seq reference where every cell type already has a known annotation in terms of gene expression </a:t>
            </a:r>
          </a:p>
          <a:p>
            <a:endParaRPr lang="en-US">
              <a:ea typeface="Calibri"/>
              <a:cs typeface="Calibri"/>
            </a:endParaRPr>
          </a:p>
          <a:p>
            <a:endParaRPr lang="en-US"/>
          </a:p>
          <a:p>
            <a:r>
              <a:rPr lang="en-US"/>
              <a:t>RCTD then</a:t>
            </a:r>
          </a:p>
          <a:p>
            <a:pPr marL="285750" indent="-285750">
              <a:buFont typeface="Arial"/>
              <a:buChar char="•"/>
            </a:pPr>
            <a:r>
              <a:rPr lang="en-US"/>
              <a:t>Constructs reference expression profiles for each annotated cell types from the single-cell RNA-seq data.</a:t>
            </a:r>
            <a:endParaRPr lang="en-US">
              <a:cs typeface="+mn-lt"/>
            </a:endParaRPr>
          </a:p>
          <a:p>
            <a:pPr marL="285750" indent="-285750">
              <a:buFont typeface="Arial"/>
              <a:buChar char="•"/>
            </a:pPr>
            <a:r>
              <a:rPr lang="en-US"/>
              <a:t>models each spatial spot as a weighted mixture of the reference cell-type expression profiles.</a:t>
            </a:r>
          </a:p>
          <a:p>
            <a:pPr marL="285750" indent="-285750">
              <a:buFont typeface="Arial"/>
              <a:buChar char="•"/>
            </a:pPr>
            <a:r>
              <a:rPr lang="en-US"/>
              <a:t>Uses a probabilistic model to estimate the proportions of each cell type contributing to every spatial spot.</a:t>
            </a:r>
          </a:p>
          <a:p>
            <a:pPr marL="285750" indent="-285750">
              <a:buFont typeface="Arial"/>
              <a:buChar char="•"/>
            </a:pPr>
            <a:r>
              <a:rPr lang="en-US"/>
              <a:t>RCTD accounts for platform effects between the single-cell reference set and the spatial transcriptomics experiment, as well as measurement noise.</a:t>
            </a:r>
            <a:endParaRPr lang="en-US">
              <a:ea typeface="Calibri" panose="020F0502020204030204"/>
              <a:cs typeface="Calibri" panose="020F0502020204030204"/>
            </a:endParaRPr>
          </a:p>
          <a:p>
            <a:pPr marL="285750" indent="-285750">
              <a:buFont typeface="Arial,Sans-Serif"/>
              <a:buChar char="•"/>
            </a:pPr>
            <a:r>
              <a:rPr lang="en-US"/>
              <a:t>It optimizes the cell-type proportion estimations by maximizing the likelihood of</a:t>
            </a:r>
            <a:r>
              <a:rPr lang="en-US">
                <a:solidFill>
                  <a:srgbClr val="000000"/>
                </a:solidFill>
              </a:rPr>
              <a:t> observing the measured gene counts under its statistical model – this process is called maximum likelihood estimation</a:t>
            </a:r>
            <a:br>
              <a:rPr lang="en-US">
                <a:cs typeface="+mn-lt"/>
              </a:rPr>
            </a:br>
            <a:endParaRPr lang="en-US">
              <a:solidFill>
                <a:srgbClr val="000000"/>
              </a:solidFill>
            </a:endParaRPr>
          </a:p>
          <a:p>
            <a:r>
              <a:rPr lang="en-US"/>
              <a:t>The RCTD output is an estimated cell-type composition for every spatial capture spot, allowing researchers to reconstruct the spatial organization of different cell types across the tissue.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8849B46B-0C2B-4E31-B6E7-FD7207BEE059}" type="slidenum">
              <a:t>10</a:t>
            </a:fld>
            <a:endParaRPr lang="en-US"/>
          </a:p>
        </p:txBody>
      </p:sp>
    </p:spTree>
    <p:extLst>
      <p:ext uri="{BB962C8B-B14F-4D97-AF65-F5344CB8AC3E}">
        <p14:creationId xmlns:p14="http://schemas.microsoft.com/office/powerpoint/2010/main" val="2119268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1_D2298A40.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02_4071785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12_38768AEC.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s-lenz/spatial_transcriptomics_hc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RCTD - Spatial Transcriptomics Deconvolution</a:t>
            </a:r>
          </a:p>
        </p:txBody>
      </p:sp>
      <p:sp>
        <p:nvSpPr>
          <p:cNvPr id="3" name="Subtitle 2"/>
          <p:cNvSpPr>
            <a:spLocks noGrp="1"/>
          </p:cNvSpPr>
          <p:nvPr>
            <p:ph type="subTitle" idx="1"/>
          </p:nvPr>
        </p:nvSpPr>
        <p:spPr/>
        <p:txBody>
          <a:bodyPr vert="horz" lIns="91440" tIns="45720" rIns="91440" bIns="45720" rtlCol="0" anchor="t">
            <a:normAutofit/>
          </a:bodyPr>
          <a:lstStyle/>
          <a:p>
            <a:r>
              <a:rPr lang="en-US"/>
              <a:t> Katya Aladyeva, JT Bobik, Sidney Lenz, Kate Zoller</a:t>
            </a:r>
          </a:p>
          <a:p>
            <a:r>
              <a:rPr lang="en-US"/>
              <a:t>BMI 5750</a:t>
            </a:r>
          </a:p>
          <a:p>
            <a:r>
              <a:rPr lang="en-US"/>
              <a:t>July 16, 2026</a:t>
            </a:r>
          </a:p>
        </p:txBody>
      </p:sp>
      <p:sp>
        <p:nvSpPr>
          <p:cNvPr id="4" name="Slide Number Placeholder 3">
            <a:extLst>
              <a:ext uri="{FF2B5EF4-FFF2-40B4-BE49-F238E27FC236}">
                <a16:creationId xmlns:a16="http://schemas.microsoft.com/office/drawing/2014/main" id="{EAF0E5DC-9CA0-755A-C988-346D7A7F3436}"/>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7AA60-6029-1230-D96B-B108E5FE06F8}"/>
              </a:ext>
            </a:extLst>
          </p:cNvPr>
          <p:cNvSpPr>
            <a:spLocks noGrp="1"/>
          </p:cNvSpPr>
          <p:nvPr>
            <p:ph type="title"/>
          </p:nvPr>
        </p:nvSpPr>
        <p:spPr/>
        <p:txBody>
          <a:bodyPr/>
          <a:lstStyle/>
          <a:p>
            <a:r>
              <a:rPr lang="en-US"/>
              <a:t>What is Spatial Transcriptomics?</a:t>
            </a:r>
          </a:p>
        </p:txBody>
      </p:sp>
      <p:sp>
        <p:nvSpPr>
          <p:cNvPr id="3" name="Content Placeholder 2">
            <a:extLst>
              <a:ext uri="{FF2B5EF4-FFF2-40B4-BE49-F238E27FC236}">
                <a16:creationId xmlns:a16="http://schemas.microsoft.com/office/drawing/2014/main" id="{CF04DC46-4E5E-F5A7-42FD-38ABA178B6F7}"/>
              </a:ext>
            </a:extLst>
          </p:cNvPr>
          <p:cNvSpPr>
            <a:spLocks noGrp="1"/>
          </p:cNvSpPr>
          <p:nvPr>
            <p:ph idx="1"/>
          </p:nvPr>
        </p:nvSpPr>
        <p:spPr/>
        <p:txBody>
          <a:bodyPr/>
          <a:lstStyle/>
          <a:p>
            <a:r>
              <a:rPr lang="en-US"/>
              <a:t>High dimensional resolution of genes with a spatial context.</a:t>
            </a:r>
          </a:p>
          <a:p>
            <a:endParaRPr lang="en-US"/>
          </a:p>
          <a:p>
            <a:r>
              <a:rPr lang="en-US"/>
              <a:t>Some cell types less amenable to </a:t>
            </a:r>
            <a:r>
              <a:rPr lang="en-US" err="1"/>
              <a:t>scRNAseq</a:t>
            </a:r>
            <a:r>
              <a:rPr lang="en-US"/>
              <a:t> protocols.</a:t>
            </a:r>
          </a:p>
          <a:p>
            <a:endParaRPr lang="en-US"/>
          </a:p>
          <a:p>
            <a:r>
              <a:rPr lang="en-US"/>
              <a:t>Advantage in providing tissue context to help inform biology of the sample.</a:t>
            </a:r>
          </a:p>
          <a:p>
            <a:endParaRPr lang="en-US"/>
          </a:p>
          <a:p>
            <a:r>
              <a:rPr lang="en-US"/>
              <a:t>Sub-cellular localization of mRNA integral to gene function.</a:t>
            </a:r>
          </a:p>
          <a:p>
            <a:endParaRPr lang="en-US"/>
          </a:p>
          <a:p>
            <a:endParaRPr lang="en-US"/>
          </a:p>
        </p:txBody>
      </p:sp>
      <p:sp>
        <p:nvSpPr>
          <p:cNvPr id="4" name="TextBox 3">
            <a:extLst>
              <a:ext uri="{FF2B5EF4-FFF2-40B4-BE49-F238E27FC236}">
                <a16:creationId xmlns:a16="http://schemas.microsoft.com/office/drawing/2014/main" id="{C81440B7-A43C-EAE0-F8AF-1DAF463EEC4C}"/>
              </a:ext>
            </a:extLst>
          </p:cNvPr>
          <p:cNvSpPr txBox="1"/>
          <p:nvPr/>
        </p:nvSpPr>
        <p:spPr>
          <a:xfrm>
            <a:off x="244551" y="6338986"/>
            <a:ext cx="8750594" cy="276999"/>
          </a:xfrm>
          <a:prstGeom prst="rect">
            <a:avLst/>
          </a:prstGeom>
          <a:noFill/>
        </p:spPr>
        <p:txBody>
          <a:bodyPr wrap="square">
            <a:spAutoFit/>
          </a:bodyPr>
          <a:lstStyle/>
          <a:p>
            <a:r>
              <a:rPr lang="en-US" sz="1200"/>
              <a:t>Williams, C. G. </a:t>
            </a:r>
            <a:r>
              <a:rPr lang="en-US" sz="1200" i="1"/>
              <a:t>et al.</a:t>
            </a:r>
            <a:r>
              <a:rPr lang="en-US" sz="1200"/>
              <a:t> An introduction to spatial transcriptomics for biomedical research. </a:t>
            </a:r>
            <a:r>
              <a:rPr lang="en-US" sz="1200" i="1"/>
              <a:t>Genome Medicine</a:t>
            </a:r>
            <a:r>
              <a:rPr lang="en-US" sz="1200"/>
              <a:t> </a:t>
            </a:r>
            <a:r>
              <a:rPr lang="en-US" sz="1200" b="1"/>
              <a:t>14</a:t>
            </a:r>
            <a:r>
              <a:rPr lang="en-US" sz="1200"/>
              <a:t>, 68 (2022).</a:t>
            </a:r>
          </a:p>
        </p:txBody>
      </p:sp>
      <p:sp>
        <p:nvSpPr>
          <p:cNvPr id="5" name="Slide Number Placeholder 4">
            <a:extLst>
              <a:ext uri="{FF2B5EF4-FFF2-40B4-BE49-F238E27FC236}">
                <a16:creationId xmlns:a16="http://schemas.microsoft.com/office/drawing/2014/main" id="{39087D90-F7A5-B8F7-5085-1218A40A1A7F}"/>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2506898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6D0B-FDD6-801E-4ECD-DBE7C310AA53}"/>
              </a:ext>
            </a:extLst>
          </p:cNvPr>
          <p:cNvSpPr>
            <a:spLocks noGrp="1"/>
          </p:cNvSpPr>
          <p:nvPr>
            <p:ph type="title"/>
          </p:nvPr>
        </p:nvSpPr>
        <p:spPr/>
        <p:txBody>
          <a:bodyPr/>
          <a:lstStyle/>
          <a:p>
            <a:r>
              <a:rPr lang="en-US"/>
              <a:t>Spatial Transcriptomics – 10X </a:t>
            </a:r>
            <a:r>
              <a:rPr lang="en-US" err="1"/>
              <a:t>Visium</a:t>
            </a:r>
            <a:r>
              <a:rPr lang="en-US"/>
              <a:t> (standard resolution) </a:t>
            </a:r>
            <a:r>
              <a:rPr lang="en-US" err="1"/>
              <a:t>technolog</a:t>
            </a:r>
            <a:r>
              <a:rPr lang="en-US"/>
              <a:t>y</a:t>
            </a:r>
          </a:p>
        </p:txBody>
      </p:sp>
      <p:pic>
        <p:nvPicPr>
          <p:cNvPr id="4" name="Content Placeholder 3" descr="Spatial Transcriptomics Technologies with Bioconductor HMS">
            <a:extLst>
              <a:ext uri="{FF2B5EF4-FFF2-40B4-BE49-F238E27FC236}">
                <a16:creationId xmlns:a16="http://schemas.microsoft.com/office/drawing/2014/main" id="{04B1C43F-7797-E0A3-735C-01E84C0165F1}"/>
              </a:ext>
            </a:extLst>
          </p:cNvPr>
          <p:cNvPicPr>
            <a:picLocks noGrp="1" noChangeAspect="1"/>
          </p:cNvPicPr>
          <p:nvPr>
            <p:ph idx="1"/>
          </p:nvPr>
        </p:nvPicPr>
        <p:blipFill>
          <a:blip r:embed="rId3"/>
          <a:stretch>
            <a:fillRect/>
          </a:stretch>
        </p:blipFill>
        <p:spPr>
          <a:xfrm>
            <a:off x="477838" y="2566134"/>
            <a:ext cx="11236325" cy="2895146"/>
          </a:xfrm>
          <a:prstGeom prst="rect">
            <a:avLst/>
          </a:prstGeom>
          <a:ln>
            <a:solidFill>
              <a:schemeClr val="bg2">
                <a:lumMod val="90000"/>
              </a:schemeClr>
            </a:solidFill>
          </a:ln>
        </p:spPr>
      </p:pic>
      <p:sp>
        <p:nvSpPr>
          <p:cNvPr id="3" name="TextBox 2">
            <a:extLst>
              <a:ext uri="{FF2B5EF4-FFF2-40B4-BE49-F238E27FC236}">
                <a16:creationId xmlns:a16="http://schemas.microsoft.com/office/drawing/2014/main" id="{252D81B0-F152-26FA-FE10-616392401D19}"/>
              </a:ext>
            </a:extLst>
          </p:cNvPr>
          <p:cNvSpPr txBox="1"/>
          <p:nvPr/>
        </p:nvSpPr>
        <p:spPr>
          <a:xfrm>
            <a:off x="83985" y="6082182"/>
            <a:ext cx="10998460" cy="276999"/>
          </a:xfrm>
          <a:prstGeom prst="rect">
            <a:avLst/>
          </a:prstGeom>
          <a:noFill/>
        </p:spPr>
        <p:txBody>
          <a:bodyPr wrap="none" rtlCol="0">
            <a:spAutoFit/>
          </a:bodyPr>
          <a:lstStyle/>
          <a:p>
            <a:r>
              <a:rPr lang="en-US" sz="1200"/>
              <a:t>https://www.10xgenomics.com/support/spatial-gene-expression-fresh-frozen/documentation/steps/tissue-prep/</a:t>
            </a:r>
            <a:r>
              <a:rPr lang="en-US" sz="1200" err="1"/>
              <a:t>visium</a:t>
            </a:r>
            <a:r>
              <a:rPr lang="en-US" sz="1200"/>
              <a:t>-spatial-protocols-tissue-preparation-guide</a:t>
            </a:r>
          </a:p>
        </p:txBody>
      </p:sp>
      <p:sp>
        <p:nvSpPr>
          <p:cNvPr id="5" name="Slide Number Placeholder 4">
            <a:extLst>
              <a:ext uri="{FF2B5EF4-FFF2-40B4-BE49-F238E27FC236}">
                <a16:creationId xmlns:a16="http://schemas.microsoft.com/office/drawing/2014/main" id="{B564C003-7F82-A923-065F-A568C33C1EC4}"/>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3525937728"/>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D53E9-639F-B345-EFE6-E06A1C150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3D1E4-A6B7-4032-0053-A5A134B3D14D}"/>
              </a:ext>
            </a:extLst>
          </p:cNvPr>
          <p:cNvSpPr>
            <a:spLocks noGrp="1"/>
          </p:cNvSpPr>
          <p:nvPr>
            <p:ph type="title"/>
          </p:nvPr>
        </p:nvSpPr>
        <p:spPr/>
        <p:txBody>
          <a:bodyPr/>
          <a:lstStyle/>
          <a:p>
            <a:r>
              <a:rPr lang="en-US"/>
              <a:t>10X </a:t>
            </a:r>
            <a:r>
              <a:rPr lang="en-US" err="1"/>
              <a:t>Visium</a:t>
            </a:r>
            <a:r>
              <a:rPr lang="en-US"/>
              <a:t> pipeline</a:t>
            </a:r>
          </a:p>
        </p:txBody>
      </p:sp>
      <p:pic>
        <p:nvPicPr>
          <p:cNvPr id="4" name="Content Placeholder 3" descr="Spatial Transcriptomics Technologies with Bioconductor HMS">
            <a:extLst>
              <a:ext uri="{FF2B5EF4-FFF2-40B4-BE49-F238E27FC236}">
                <a16:creationId xmlns:a16="http://schemas.microsoft.com/office/drawing/2014/main" id="{82760024-63A5-E879-F212-DF8609B2316C}"/>
              </a:ext>
            </a:extLst>
          </p:cNvPr>
          <p:cNvPicPr>
            <a:picLocks noGrp="1" noChangeAspect="1"/>
          </p:cNvPicPr>
          <p:nvPr>
            <p:ph idx="1"/>
          </p:nvPr>
        </p:nvPicPr>
        <p:blipFill>
          <a:blip r:embed="rId2"/>
          <a:srcRect r="83251"/>
          <a:stretch/>
        </p:blipFill>
        <p:spPr>
          <a:xfrm>
            <a:off x="233290" y="2309593"/>
            <a:ext cx="1881964" cy="2895146"/>
          </a:xfrm>
          <a:prstGeom prst="rect">
            <a:avLst/>
          </a:prstGeom>
          <a:ln>
            <a:solidFill>
              <a:schemeClr val="bg2">
                <a:lumMod val="90000"/>
              </a:schemeClr>
            </a:solidFill>
          </a:ln>
        </p:spPr>
      </p:pic>
      <p:sp>
        <p:nvSpPr>
          <p:cNvPr id="6" name="TextBox 5">
            <a:extLst>
              <a:ext uri="{FF2B5EF4-FFF2-40B4-BE49-F238E27FC236}">
                <a16:creationId xmlns:a16="http://schemas.microsoft.com/office/drawing/2014/main" id="{75FE20DE-750A-92AF-9B91-6EB56F2DEE77}"/>
              </a:ext>
            </a:extLst>
          </p:cNvPr>
          <p:cNvSpPr txBox="1"/>
          <p:nvPr/>
        </p:nvSpPr>
        <p:spPr>
          <a:xfrm>
            <a:off x="2402958" y="2413591"/>
            <a:ext cx="2969146" cy="369332"/>
          </a:xfrm>
          <a:prstGeom prst="rect">
            <a:avLst/>
          </a:prstGeom>
          <a:noFill/>
        </p:spPr>
        <p:txBody>
          <a:bodyPr wrap="none" rtlCol="0">
            <a:spAutoFit/>
          </a:bodyPr>
          <a:lstStyle/>
          <a:p>
            <a:r>
              <a:rPr lang="en-US"/>
              <a:t>Sections within the squares </a:t>
            </a:r>
          </a:p>
        </p:txBody>
      </p:sp>
      <p:sp>
        <p:nvSpPr>
          <p:cNvPr id="7" name="TextBox 6">
            <a:extLst>
              <a:ext uri="{FF2B5EF4-FFF2-40B4-BE49-F238E27FC236}">
                <a16:creationId xmlns:a16="http://schemas.microsoft.com/office/drawing/2014/main" id="{CC59E976-3818-C41B-7D6C-F104C89977B7}"/>
              </a:ext>
            </a:extLst>
          </p:cNvPr>
          <p:cNvSpPr txBox="1"/>
          <p:nvPr/>
        </p:nvSpPr>
        <p:spPr>
          <a:xfrm>
            <a:off x="2402958" y="4026936"/>
            <a:ext cx="3577967" cy="369332"/>
          </a:xfrm>
          <a:prstGeom prst="rect">
            <a:avLst/>
          </a:prstGeom>
          <a:noFill/>
        </p:spPr>
        <p:txBody>
          <a:bodyPr wrap="none" rtlCol="0">
            <a:spAutoFit/>
          </a:bodyPr>
          <a:lstStyle/>
          <a:p>
            <a:r>
              <a:rPr lang="en-US"/>
              <a:t>One section per square, no folding</a:t>
            </a:r>
          </a:p>
        </p:txBody>
      </p:sp>
      <p:sp>
        <p:nvSpPr>
          <p:cNvPr id="8" name="TextBox 7">
            <a:extLst>
              <a:ext uri="{FF2B5EF4-FFF2-40B4-BE49-F238E27FC236}">
                <a16:creationId xmlns:a16="http://schemas.microsoft.com/office/drawing/2014/main" id="{2FF8EF10-506B-4195-01EC-0577A38BC524}"/>
              </a:ext>
            </a:extLst>
          </p:cNvPr>
          <p:cNvSpPr txBox="1"/>
          <p:nvPr/>
        </p:nvSpPr>
        <p:spPr>
          <a:xfrm>
            <a:off x="2402958" y="4321839"/>
            <a:ext cx="2637260" cy="369332"/>
          </a:xfrm>
          <a:prstGeom prst="rect">
            <a:avLst/>
          </a:prstGeom>
          <a:noFill/>
        </p:spPr>
        <p:txBody>
          <a:bodyPr wrap="none" rtlCol="0">
            <a:spAutoFit/>
          </a:bodyPr>
          <a:lstStyle/>
          <a:p>
            <a:r>
              <a:rPr lang="en-US" err="1"/>
              <a:t>Cryosectioning</a:t>
            </a:r>
            <a:r>
              <a:rPr lang="en-US"/>
              <a:t> with OCT</a:t>
            </a:r>
          </a:p>
        </p:txBody>
      </p:sp>
      <p:sp>
        <p:nvSpPr>
          <p:cNvPr id="9" name="TextBox 8">
            <a:extLst>
              <a:ext uri="{FF2B5EF4-FFF2-40B4-BE49-F238E27FC236}">
                <a16:creationId xmlns:a16="http://schemas.microsoft.com/office/drawing/2014/main" id="{C8E6945A-49AA-4E75-83F7-4E9CAC03EEE3}"/>
              </a:ext>
            </a:extLst>
          </p:cNvPr>
          <p:cNvSpPr txBox="1"/>
          <p:nvPr/>
        </p:nvSpPr>
        <p:spPr>
          <a:xfrm>
            <a:off x="2402958" y="5381075"/>
            <a:ext cx="3174202" cy="923330"/>
          </a:xfrm>
          <a:prstGeom prst="rect">
            <a:avLst/>
          </a:prstGeom>
          <a:noFill/>
        </p:spPr>
        <p:txBody>
          <a:bodyPr wrap="none" rtlCol="0">
            <a:spAutoFit/>
          </a:bodyPr>
          <a:lstStyle/>
          <a:p>
            <a:r>
              <a:rPr lang="en-US"/>
              <a:t>Can also evaluate RNA quality</a:t>
            </a:r>
          </a:p>
          <a:p>
            <a:r>
              <a:rPr lang="en-US"/>
              <a:t>within the cryosections before</a:t>
            </a:r>
          </a:p>
          <a:p>
            <a:r>
              <a:rPr lang="en-US"/>
              <a:t>proceeding with experiment</a:t>
            </a:r>
          </a:p>
        </p:txBody>
      </p:sp>
      <p:sp>
        <p:nvSpPr>
          <p:cNvPr id="11" name="TextBox 10">
            <a:extLst>
              <a:ext uri="{FF2B5EF4-FFF2-40B4-BE49-F238E27FC236}">
                <a16:creationId xmlns:a16="http://schemas.microsoft.com/office/drawing/2014/main" id="{8E4EA6A9-6EF8-8868-BA9E-E7DE1F4CBDA3}"/>
              </a:ext>
            </a:extLst>
          </p:cNvPr>
          <p:cNvSpPr txBox="1"/>
          <p:nvPr/>
        </p:nvSpPr>
        <p:spPr>
          <a:xfrm>
            <a:off x="2402958" y="2767162"/>
            <a:ext cx="4213205" cy="369332"/>
          </a:xfrm>
          <a:prstGeom prst="rect">
            <a:avLst/>
          </a:prstGeom>
          <a:noFill/>
        </p:spPr>
        <p:txBody>
          <a:bodyPr wrap="none" rtlCol="0">
            <a:spAutoFit/>
          </a:bodyPr>
          <a:lstStyle/>
          <a:p>
            <a:r>
              <a:rPr lang="en-US"/>
              <a:t>Square = Capture Area (6.5mm x 6.5mm)</a:t>
            </a:r>
          </a:p>
        </p:txBody>
      </p:sp>
      <p:sp>
        <p:nvSpPr>
          <p:cNvPr id="12" name="TextBox 11">
            <a:extLst>
              <a:ext uri="{FF2B5EF4-FFF2-40B4-BE49-F238E27FC236}">
                <a16:creationId xmlns:a16="http://schemas.microsoft.com/office/drawing/2014/main" id="{EE283E6E-1782-9577-C10B-70F0F9C5896B}"/>
              </a:ext>
            </a:extLst>
          </p:cNvPr>
          <p:cNvSpPr txBox="1"/>
          <p:nvPr/>
        </p:nvSpPr>
        <p:spPr>
          <a:xfrm>
            <a:off x="2402958" y="3136494"/>
            <a:ext cx="4627485" cy="646331"/>
          </a:xfrm>
          <a:prstGeom prst="rect">
            <a:avLst/>
          </a:prstGeom>
          <a:noFill/>
        </p:spPr>
        <p:txBody>
          <a:bodyPr wrap="none" rtlCol="0">
            <a:spAutoFit/>
          </a:bodyPr>
          <a:lstStyle/>
          <a:p>
            <a:r>
              <a:rPr lang="en-US"/>
              <a:t>Capture area surrounded by Fiducial Frame</a:t>
            </a:r>
          </a:p>
          <a:p>
            <a:r>
              <a:rPr lang="en-US"/>
              <a:t>for proper image recognition in data analysis</a:t>
            </a:r>
          </a:p>
        </p:txBody>
      </p:sp>
      <p:pic>
        <p:nvPicPr>
          <p:cNvPr id="13" name="Picture 12">
            <a:extLst>
              <a:ext uri="{FF2B5EF4-FFF2-40B4-BE49-F238E27FC236}">
                <a16:creationId xmlns:a16="http://schemas.microsoft.com/office/drawing/2014/main" id="{4CD4C1B3-15B6-8425-D5F4-CFAFE36F7D65}"/>
              </a:ext>
            </a:extLst>
          </p:cNvPr>
          <p:cNvPicPr>
            <a:picLocks noChangeAspect="1"/>
          </p:cNvPicPr>
          <p:nvPr/>
        </p:nvPicPr>
        <p:blipFill>
          <a:blip r:embed="rId3"/>
          <a:stretch>
            <a:fillRect/>
          </a:stretch>
        </p:blipFill>
        <p:spPr>
          <a:xfrm>
            <a:off x="7030443" y="2423925"/>
            <a:ext cx="4000500" cy="2717800"/>
          </a:xfrm>
          <a:prstGeom prst="rect">
            <a:avLst/>
          </a:prstGeom>
        </p:spPr>
      </p:pic>
      <p:sp>
        <p:nvSpPr>
          <p:cNvPr id="3" name="TextBox 2">
            <a:extLst>
              <a:ext uri="{FF2B5EF4-FFF2-40B4-BE49-F238E27FC236}">
                <a16:creationId xmlns:a16="http://schemas.microsoft.com/office/drawing/2014/main" id="{C06922EA-0627-8F48-A2FF-EE6C1379CFB7}"/>
              </a:ext>
            </a:extLst>
          </p:cNvPr>
          <p:cNvSpPr txBox="1"/>
          <p:nvPr/>
        </p:nvSpPr>
        <p:spPr>
          <a:xfrm>
            <a:off x="645459" y="6454588"/>
            <a:ext cx="10140918" cy="261610"/>
          </a:xfrm>
          <a:prstGeom prst="rect">
            <a:avLst/>
          </a:prstGeom>
          <a:noFill/>
        </p:spPr>
        <p:txBody>
          <a:bodyPr wrap="none" lIns="91440" tIns="45720" rIns="91440" bIns="45720" rtlCol="0" anchor="t">
            <a:spAutoFit/>
          </a:bodyPr>
          <a:lstStyle/>
          <a:p>
            <a:r>
              <a:rPr lang="en-US" sz="1100"/>
              <a:t>https://www.10xgenomics.com/support/spatial-gene-expression-fresh-frozen/documentation/steps/tissue-prep/visium-spatial-protocols-tissue-preparation-guide</a:t>
            </a:r>
          </a:p>
        </p:txBody>
      </p:sp>
      <p:sp>
        <p:nvSpPr>
          <p:cNvPr id="5" name="TextBox 4">
            <a:extLst>
              <a:ext uri="{FF2B5EF4-FFF2-40B4-BE49-F238E27FC236}">
                <a16:creationId xmlns:a16="http://schemas.microsoft.com/office/drawing/2014/main" id="{9E3A09C5-C748-3A92-EF2B-0468174A001A}"/>
              </a:ext>
            </a:extLst>
          </p:cNvPr>
          <p:cNvSpPr txBox="1"/>
          <p:nvPr/>
        </p:nvSpPr>
        <p:spPr>
          <a:xfrm>
            <a:off x="2417130" y="4633728"/>
            <a:ext cx="2292166" cy="369332"/>
          </a:xfrm>
          <a:prstGeom prst="rect">
            <a:avLst/>
          </a:prstGeom>
          <a:noFill/>
        </p:spPr>
        <p:txBody>
          <a:bodyPr wrap="none" rtlCol="0">
            <a:spAutoFit/>
          </a:bodyPr>
          <a:lstStyle/>
          <a:p>
            <a:r>
              <a:rPr lang="en-US"/>
              <a:t>Can also use </a:t>
            </a:r>
            <a:r>
              <a:rPr lang="en-US" err="1"/>
              <a:t>parrafin</a:t>
            </a:r>
            <a:endParaRPr lang="en-US"/>
          </a:p>
        </p:txBody>
      </p:sp>
      <p:sp>
        <p:nvSpPr>
          <p:cNvPr id="10" name="Slide Number Placeholder 9">
            <a:extLst>
              <a:ext uri="{FF2B5EF4-FFF2-40B4-BE49-F238E27FC236}">
                <a16:creationId xmlns:a16="http://schemas.microsoft.com/office/drawing/2014/main" id="{0FA91B90-49E4-BADE-08B4-D71F58248E80}"/>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695041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ED4C-23AA-96E4-7C0E-36E4BC35B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5753C5-A75A-F148-9436-F026453A9FF8}"/>
              </a:ext>
            </a:extLst>
          </p:cNvPr>
          <p:cNvSpPr>
            <a:spLocks noGrp="1"/>
          </p:cNvSpPr>
          <p:nvPr>
            <p:ph type="title"/>
          </p:nvPr>
        </p:nvSpPr>
        <p:spPr>
          <a:xfrm>
            <a:off x="597568" y="204703"/>
            <a:ext cx="10515600" cy="1325563"/>
          </a:xfrm>
        </p:spPr>
        <p:txBody>
          <a:bodyPr/>
          <a:lstStyle/>
          <a:p>
            <a:r>
              <a:rPr lang="en-US"/>
              <a:t>10X </a:t>
            </a:r>
            <a:r>
              <a:rPr lang="en-US" err="1"/>
              <a:t>Visium</a:t>
            </a:r>
            <a:r>
              <a:rPr lang="en-US"/>
              <a:t> pipeline</a:t>
            </a:r>
          </a:p>
        </p:txBody>
      </p:sp>
      <p:pic>
        <p:nvPicPr>
          <p:cNvPr id="3" name="Content Placeholder 3" descr="Spatial Transcriptomics Technologies with Bioconductor HMS">
            <a:extLst>
              <a:ext uri="{FF2B5EF4-FFF2-40B4-BE49-F238E27FC236}">
                <a16:creationId xmlns:a16="http://schemas.microsoft.com/office/drawing/2014/main" id="{8A64BFCB-4B10-30EF-1787-A8A351B79BE1}"/>
              </a:ext>
            </a:extLst>
          </p:cNvPr>
          <p:cNvPicPr>
            <a:picLocks noChangeAspect="1"/>
          </p:cNvPicPr>
          <p:nvPr/>
        </p:nvPicPr>
        <p:blipFill>
          <a:blip r:embed="rId2"/>
          <a:srcRect l="19656" r="63595"/>
          <a:stretch/>
        </p:blipFill>
        <p:spPr>
          <a:xfrm>
            <a:off x="595422" y="2228925"/>
            <a:ext cx="1881964" cy="2895146"/>
          </a:xfrm>
          <a:prstGeom prst="rect">
            <a:avLst/>
          </a:prstGeom>
          <a:ln>
            <a:solidFill>
              <a:schemeClr val="bg2">
                <a:lumMod val="90000"/>
              </a:schemeClr>
            </a:solidFill>
          </a:ln>
        </p:spPr>
      </p:pic>
      <p:sp>
        <p:nvSpPr>
          <p:cNvPr id="10" name="TextBox 9">
            <a:extLst>
              <a:ext uri="{FF2B5EF4-FFF2-40B4-BE49-F238E27FC236}">
                <a16:creationId xmlns:a16="http://schemas.microsoft.com/office/drawing/2014/main" id="{B4B86645-6F1E-3577-3F86-A59143FA4787}"/>
              </a:ext>
            </a:extLst>
          </p:cNvPr>
          <p:cNvSpPr txBox="1"/>
          <p:nvPr/>
        </p:nvSpPr>
        <p:spPr>
          <a:xfrm>
            <a:off x="2884968" y="2228925"/>
            <a:ext cx="2674771" cy="2031325"/>
          </a:xfrm>
          <a:prstGeom prst="rect">
            <a:avLst/>
          </a:prstGeom>
          <a:noFill/>
        </p:spPr>
        <p:txBody>
          <a:bodyPr wrap="none" rtlCol="0">
            <a:spAutoFit/>
          </a:bodyPr>
          <a:lstStyle/>
          <a:p>
            <a:r>
              <a:rPr lang="en-US"/>
              <a:t>Roughly 5000 spots per</a:t>
            </a:r>
          </a:p>
          <a:p>
            <a:r>
              <a:rPr lang="en-US"/>
              <a:t>capture area</a:t>
            </a:r>
          </a:p>
          <a:p>
            <a:endParaRPr lang="en-US"/>
          </a:p>
          <a:p>
            <a:r>
              <a:rPr lang="en-US"/>
              <a:t>Each spot has a barcode </a:t>
            </a:r>
          </a:p>
          <a:p>
            <a:r>
              <a:rPr lang="en-US"/>
              <a:t>associated to track</a:t>
            </a:r>
          </a:p>
          <a:p>
            <a:r>
              <a:rPr lang="en-US"/>
              <a:t>location on the slide </a:t>
            </a:r>
          </a:p>
          <a:p>
            <a:endParaRPr lang="en-US"/>
          </a:p>
        </p:txBody>
      </p:sp>
      <p:sp>
        <p:nvSpPr>
          <p:cNvPr id="13" name="TextBox 12">
            <a:extLst>
              <a:ext uri="{FF2B5EF4-FFF2-40B4-BE49-F238E27FC236}">
                <a16:creationId xmlns:a16="http://schemas.microsoft.com/office/drawing/2014/main" id="{DD879559-79ED-64B8-D916-6CCC396F508C}"/>
              </a:ext>
            </a:extLst>
          </p:cNvPr>
          <p:cNvSpPr txBox="1"/>
          <p:nvPr/>
        </p:nvSpPr>
        <p:spPr>
          <a:xfrm>
            <a:off x="2884968" y="4156962"/>
            <a:ext cx="3316870" cy="646331"/>
          </a:xfrm>
          <a:prstGeom prst="rect">
            <a:avLst/>
          </a:prstGeom>
          <a:noFill/>
        </p:spPr>
        <p:txBody>
          <a:bodyPr wrap="none" rtlCol="0">
            <a:spAutoFit/>
          </a:bodyPr>
          <a:lstStyle/>
          <a:p>
            <a:r>
              <a:rPr lang="en-US"/>
              <a:t>Each spot has multiple primers </a:t>
            </a:r>
          </a:p>
          <a:p>
            <a:r>
              <a:rPr lang="en-US"/>
              <a:t>to capture genes</a:t>
            </a:r>
          </a:p>
        </p:txBody>
      </p:sp>
      <p:sp>
        <p:nvSpPr>
          <p:cNvPr id="14" name="TextBox 13">
            <a:extLst>
              <a:ext uri="{FF2B5EF4-FFF2-40B4-BE49-F238E27FC236}">
                <a16:creationId xmlns:a16="http://schemas.microsoft.com/office/drawing/2014/main" id="{FF78F7E1-F3DE-E338-7D1F-F27F8FD0235B}"/>
              </a:ext>
            </a:extLst>
          </p:cNvPr>
          <p:cNvSpPr txBox="1"/>
          <p:nvPr/>
        </p:nvSpPr>
        <p:spPr>
          <a:xfrm>
            <a:off x="2884968" y="4977004"/>
            <a:ext cx="3132204" cy="923330"/>
          </a:xfrm>
          <a:prstGeom prst="rect">
            <a:avLst/>
          </a:prstGeom>
          <a:noFill/>
        </p:spPr>
        <p:txBody>
          <a:bodyPr wrap="none" rtlCol="0">
            <a:spAutoFit/>
          </a:bodyPr>
          <a:lstStyle/>
          <a:p>
            <a:r>
              <a:rPr lang="en-US"/>
              <a:t>Spots generally 55 microns by</a:t>
            </a:r>
          </a:p>
          <a:p>
            <a:r>
              <a:rPr lang="en-US"/>
              <a:t>55 microns, spaced 100</a:t>
            </a:r>
          </a:p>
          <a:p>
            <a:r>
              <a:rPr lang="en-US"/>
              <a:t>microns apart</a:t>
            </a:r>
          </a:p>
        </p:txBody>
      </p:sp>
      <p:pic>
        <p:nvPicPr>
          <p:cNvPr id="15" name="Picture 14">
            <a:extLst>
              <a:ext uri="{FF2B5EF4-FFF2-40B4-BE49-F238E27FC236}">
                <a16:creationId xmlns:a16="http://schemas.microsoft.com/office/drawing/2014/main" id="{A525DE4C-30A7-7C8C-FFEF-D27516BF02CF}"/>
              </a:ext>
            </a:extLst>
          </p:cNvPr>
          <p:cNvPicPr>
            <a:picLocks noChangeAspect="1"/>
          </p:cNvPicPr>
          <p:nvPr/>
        </p:nvPicPr>
        <p:blipFill>
          <a:blip r:embed="rId3"/>
          <a:stretch>
            <a:fillRect/>
          </a:stretch>
        </p:blipFill>
        <p:spPr>
          <a:xfrm>
            <a:off x="7368658" y="1057437"/>
            <a:ext cx="3175000" cy="2717800"/>
          </a:xfrm>
          <a:prstGeom prst="rect">
            <a:avLst/>
          </a:prstGeom>
        </p:spPr>
      </p:pic>
      <p:pic>
        <p:nvPicPr>
          <p:cNvPr id="16" name="Picture 15">
            <a:extLst>
              <a:ext uri="{FF2B5EF4-FFF2-40B4-BE49-F238E27FC236}">
                <a16:creationId xmlns:a16="http://schemas.microsoft.com/office/drawing/2014/main" id="{5AB132AB-756A-284F-909F-BF470F8DC5DD}"/>
              </a:ext>
            </a:extLst>
          </p:cNvPr>
          <p:cNvPicPr>
            <a:picLocks noChangeAspect="1"/>
          </p:cNvPicPr>
          <p:nvPr/>
        </p:nvPicPr>
        <p:blipFill>
          <a:blip r:embed="rId4"/>
          <a:stretch>
            <a:fillRect/>
          </a:stretch>
        </p:blipFill>
        <p:spPr>
          <a:xfrm>
            <a:off x="8956158" y="3039362"/>
            <a:ext cx="1625600" cy="1117600"/>
          </a:xfrm>
          <a:prstGeom prst="rect">
            <a:avLst/>
          </a:prstGeom>
        </p:spPr>
      </p:pic>
      <p:pic>
        <p:nvPicPr>
          <p:cNvPr id="17" name="Picture 16">
            <a:extLst>
              <a:ext uri="{FF2B5EF4-FFF2-40B4-BE49-F238E27FC236}">
                <a16:creationId xmlns:a16="http://schemas.microsoft.com/office/drawing/2014/main" id="{8291E4F1-52E9-1410-6B48-4A6AFB7C9EDB}"/>
              </a:ext>
            </a:extLst>
          </p:cNvPr>
          <p:cNvPicPr>
            <a:picLocks noChangeAspect="1"/>
          </p:cNvPicPr>
          <p:nvPr/>
        </p:nvPicPr>
        <p:blipFill>
          <a:blip r:embed="rId5"/>
          <a:stretch>
            <a:fillRect/>
          </a:stretch>
        </p:blipFill>
        <p:spPr>
          <a:xfrm>
            <a:off x="8033931" y="4505163"/>
            <a:ext cx="3035300" cy="1295400"/>
          </a:xfrm>
          <a:prstGeom prst="rect">
            <a:avLst/>
          </a:prstGeom>
        </p:spPr>
      </p:pic>
      <p:sp>
        <p:nvSpPr>
          <p:cNvPr id="4" name="TextBox 3">
            <a:extLst>
              <a:ext uri="{FF2B5EF4-FFF2-40B4-BE49-F238E27FC236}">
                <a16:creationId xmlns:a16="http://schemas.microsoft.com/office/drawing/2014/main" id="{D7141CB2-2E2A-D8D3-1510-ECE4407481F8}"/>
              </a:ext>
            </a:extLst>
          </p:cNvPr>
          <p:cNvSpPr txBox="1"/>
          <p:nvPr/>
        </p:nvSpPr>
        <p:spPr>
          <a:xfrm>
            <a:off x="645459" y="6454588"/>
            <a:ext cx="10140918" cy="261610"/>
          </a:xfrm>
          <a:prstGeom prst="rect">
            <a:avLst/>
          </a:prstGeom>
          <a:noFill/>
        </p:spPr>
        <p:txBody>
          <a:bodyPr wrap="none" lIns="91440" tIns="45720" rIns="91440" bIns="45720" rtlCol="0" anchor="t">
            <a:spAutoFit/>
          </a:bodyPr>
          <a:lstStyle/>
          <a:p>
            <a:r>
              <a:rPr lang="en-US" sz="1100"/>
              <a:t>https://www.10xgenomics.com/support/spatial-gene-expression-fresh-frozen/documentation/steps/tissue-prep/visium-spatial-protocols-tissue-preparation-guide</a:t>
            </a:r>
          </a:p>
        </p:txBody>
      </p:sp>
      <p:sp>
        <p:nvSpPr>
          <p:cNvPr id="5" name="Slide Number Placeholder 4">
            <a:extLst>
              <a:ext uri="{FF2B5EF4-FFF2-40B4-BE49-F238E27FC236}">
                <a16:creationId xmlns:a16="http://schemas.microsoft.com/office/drawing/2014/main" id="{3D394AA3-F14F-D64B-9D0B-62827283DCD8}"/>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3618709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93DE1-0E0E-CE20-789F-3A6E2DE21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718CE-D17A-3F5B-75C8-5BA2ADBFBDC4}"/>
              </a:ext>
            </a:extLst>
          </p:cNvPr>
          <p:cNvSpPr>
            <a:spLocks noGrp="1"/>
          </p:cNvSpPr>
          <p:nvPr>
            <p:ph type="title"/>
          </p:nvPr>
        </p:nvSpPr>
        <p:spPr/>
        <p:txBody>
          <a:bodyPr/>
          <a:lstStyle/>
          <a:p>
            <a:r>
              <a:rPr lang="en-US"/>
              <a:t>10X </a:t>
            </a:r>
            <a:r>
              <a:rPr lang="en-US" err="1"/>
              <a:t>Visium</a:t>
            </a:r>
            <a:r>
              <a:rPr lang="en-US"/>
              <a:t> pipeline</a:t>
            </a:r>
          </a:p>
        </p:txBody>
      </p:sp>
      <p:sp>
        <p:nvSpPr>
          <p:cNvPr id="14" name="TextBox 13">
            <a:extLst>
              <a:ext uri="{FF2B5EF4-FFF2-40B4-BE49-F238E27FC236}">
                <a16:creationId xmlns:a16="http://schemas.microsoft.com/office/drawing/2014/main" id="{9D2B2163-3C14-C94F-E384-A67E21662028}"/>
              </a:ext>
            </a:extLst>
          </p:cNvPr>
          <p:cNvSpPr txBox="1"/>
          <p:nvPr/>
        </p:nvSpPr>
        <p:spPr>
          <a:xfrm>
            <a:off x="567071" y="4211460"/>
            <a:ext cx="1384033" cy="369332"/>
          </a:xfrm>
          <a:prstGeom prst="rect">
            <a:avLst/>
          </a:prstGeom>
          <a:noFill/>
        </p:spPr>
        <p:txBody>
          <a:bodyPr wrap="none" rtlCol="0">
            <a:spAutoFit/>
          </a:bodyPr>
          <a:lstStyle/>
          <a:p>
            <a:r>
              <a:rPr lang="en-US"/>
              <a:t>Partial read:</a:t>
            </a:r>
          </a:p>
        </p:txBody>
      </p:sp>
      <p:pic>
        <p:nvPicPr>
          <p:cNvPr id="17" name="Picture 16">
            <a:extLst>
              <a:ext uri="{FF2B5EF4-FFF2-40B4-BE49-F238E27FC236}">
                <a16:creationId xmlns:a16="http://schemas.microsoft.com/office/drawing/2014/main" id="{50CEAFF2-96E6-5980-3389-E42A5F39AF8E}"/>
              </a:ext>
            </a:extLst>
          </p:cNvPr>
          <p:cNvPicPr>
            <a:picLocks noChangeAspect="1"/>
          </p:cNvPicPr>
          <p:nvPr/>
        </p:nvPicPr>
        <p:blipFill>
          <a:blip r:embed="rId2"/>
          <a:stretch>
            <a:fillRect/>
          </a:stretch>
        </p:blipFill>
        <p:spPr>
          <a:xfrm>
            <a:off x="2792078" y="1690688"/>
            <a:ext cx="5585521" cy="2383779"/>
          </a:xfrm>
          <a:prstGeom prst="rect">
            <a:avLst/>
          </a:prstGeom>
        </p:spPr>
      </p:pic>
      <p:sp>
        <p:nvSpPr>
          <p:cNvPr id="4" name="TextBox 3">
            <a:extLst>
              <a:ext uri="{FF2B5EF4-FFF2-40B4-BE49-F238E27FC236}">
                <a16:creationId xmlns:a16="http://schemas.microsoft.com/office/drawing/2014/main" id="{FC0F616F-3DEC-B6B0-0EC2-EBC738C9DC12}"/>
              </a:ext>
            </a:extLst>
          </p:cNvPr>
          <p:cNvSpPr txBox="1"/>
          <p:nvPr/>
        </p:nvSpPr>
        <p:spPr>
          <a:xfrm>
            <a:off x="3654057" y="4211460"/>
            <a:ext cx="1817742" cy="369332"/>
          </a:xfrm>
          <a:prstGeom prst="rect">
            <a:avLst/>
          </a:prstGeom>
          <a:noFill/>
        </p:spPr>
        <p:txBody>
          <a:bodyPr wrap="none" rtlCol="0">
            <a:spAutoFit/>
          </a:bodyPr>
          <a:lstStyle/>
          <a:p>
            <a:r>
              <a:rPr lang="en-US"/>
              <a:t>Spatial barcode:</a:t>
            </a:r>
          </a:p>
        </p:txBody>
      </p:sp>
      <p:sp>
        <p:nvSpPr>
          <p:cNvPr id="5" name="TextBox 4">
            <a:extLst>
              <a:ext uri="{FF2B5EF4-FFF2-40B4-BE49-F238E27FC236}">
                <a16:creationId xmlns:a16="http://schemas.microsoft.com/office/drawing/2014/main" id="{B6D8CCB4-8609-8DC7-F9A8-6E43B5F28B17}"/>
              </a:ext>
            </a:extLst>
          </p:cNvPr>
          <p:cNvSpPr txBox="1"/>
          <p:nvPr/>
        </p:nvSpPr>
        <p:spPr>
          <a:xfrm>
            <a:off x="6826740" y="4211460"/>
            <a:ext cx="696024" cy="369332"/>
          </a:xfrm>
          <a:prstGeom prst="rect">
            <a:avLst/>
          </a:prstGeom>
          <a:noFill/>
        </p:spPr>
        <p:txBody>
          <a:bodyPr wrap="none" rtlCol="0">
            <a:spAutoFit/>
          </a:bodyPr>
          <a:lstStyle/>
          <a:p>
            <a:r>
              <a:rPr lang="en-US"/>
              <a:t>UMI: </a:t>
            </a:r>
          </a:p>
        </p:txBody>
      </p:sp>
      <p:sp>
        <p:nvSpPr>
          <p:cNvPr id="6" name="TextBox 5">
            <a:extLst>
              <a:ext uri="{FF2B5EF4-FFF2-40B4-BE49-F238E27FC236}">
                <a16:creationId xmlns:a16="http://schemas.microsoft.com/office/drawing/2014/main" id="{5719A2F1-3C9F-ED11-A79B-DCCE5D0F9A3B}"/>
              </a:ext>
            </a:extLst>
          </p:cNvPr>
          <p:cNvSpPr txBox="1"/>
          <p:nvPr/>
        </p:nvSpPr>
        <p:spPr>
          <a:xfrm>
            <a:off x="9353107" y="4211460"/>
            <a:ext cx="1272464" cy="369332"/>
          </a:xfrm>
          <a:prstGeom prst="rect">
            <a:avLst/>
          </a:prstGeom>
          <a:noFill/>
        </p:spPr>
        <p:txBody>
          <a:bodyPr wrap="none" rtlCol="0">
            <a:spAutoFit/>
          </a:bodyPr>
          <a:lstStyle/>
          <a:p>
            <a:r>
              <a:rPr lang="en-US"/>
              <a:t>Poly(dT)VN</a:t>
            </a:r>
          </a:p>
        </p:txBody>
      </p:sp>
      <p:sp>
        <p:nvSpPr>
          <p:cNvPr id="7" name="TextBox 6">
            <a:extLst>
              <a:ext uri="{FF2B5EF4-FFF2-40B4-BE49-F238E27FC236}">
                <a16:creationId xmlns:a16="http://schemas.microsoft.com/office/drawing/2014/main" id="{F5FDC1A0-9FE9-7F78-E255-BFD407575878}"/>
              </a:ext>
            </a:extLst>
          </p:cNvPr>
          <p:cNvSpPr txBox="1"/>
          <p:nvPr/>
        </p:nvSpPr>
        <p:spPr>
          <a:xfrm>
            <a:off x="266475" y="4704102"/>
            <a:ext cx="1985223" cy="369332"/>
          </a:xfrm>
          <a:prstGeom prst="rect">
            <a:avLst/>
          </a:prstGeom>
          <a:noFill/>
        </p:spPr>
        <p:txBody>
          <a:bodyPr wrap="none" rtlCol="0">
            <a:spAutoFit/>
          </a:bodyPr>
          <a:lstStyle/>
          <a:p>
            <a:r>
              <a:rPr lang="en-US"/>
              <a:t>Proprietary primer</a:t>
            </a:r>
          </a:p>
        </p:txBody>
      </p:sp>
      <p:sp>
        <p:nvSpPr>
          <p:cNvPr id="8" name="TextBox 7">
            <a:extLst>
              <a:ext uri="{FF2B5EF4-FFF2-40B4-BE49-F238E27FC236}">
                <a16:creationId xmlns:a16="http://schemas.microsoft.com/office/drawing/2014/main" id="{7D8981E6-82DE-0E17-DB91-C2C8DA5C3033}"/>
              </a:ext>
            </a:extLst>
          </p:cNvPr>
          <p:cNvSpPr txBox="1"/>
          <p:nvPr/>
        </p:nvSpPr>
        <p:spPr>
          <a:xfrm>
            <a:off x="3488325" y="4580792"/>
            <a:ext cx="2127505" cy="369332"/>
          </a:xfrm>
          <a:prstGeom prst="rect">
            <a:avLst/>
          </a:prstGeom>
          <a:noFill/>
        </p:spPr>
        <p:txBody>
          <a:bodyPr wrap="none" rtlCol="0">
            <a:spAutoFit/>
          </a:bodyPr>
          <a:lstStyle/>
          <a:p>
            <a:r>
              <a:rPr lang="en-US"/>
              <a:t>16 nucleotides long</a:t>
            </a:r>
          </a:p>
        </p:txBody>
      </p:sp>
      <p:sp>
        <p:nvSpPr>
          <p:cNvPr id="9" name="TextBox 8">
            <a:extLst>
              <a:ext uri="{FF2B5EF4-FFF2-40B4-BE49-F238E27FC236}">
                <a16:creationId xmlns:a16="http://schemas.microsoft.com/office/drawing/2014/main" id="{6BD599EE-0130-04C2-6AD0-9A4978BC6C86}"/>
              </a:ext>
            </a:extLst>
          </p:cNvPr>
          <p:cNvSpPr txBox="1"/>
          <p:nvPr/>
        </p:nvSpPr>
        <p:spPr>
          <a:xfrm>
            <a:off x="266475" y="5073434"/>
            <a:ext cx="1743170" cy="646331"/>
          </a:xfrm>
          <a:prstGeom prst="rect">
            <a:avLst/>
          </a:prstGeom>
          <a:noFill/>
        </p:spPr>
        <p:txBody>
          <a:bodyPr wrap="none" rtlCol="0">
            <a:spAutoFit/>
          </a:bodyPr>
          <a:lstStyle/>
          <a:p>
            <a:r>
              <a:rPr lang="en-US"/>
              <a:t>Links rest of the</a:t>
            </a:r>
          </a:p>
          <a:p>
            <a:r>
              <a:rPr lang="en-US"/>
              <a:t>primer to slide</a:t>
            </a:r>
          </a:p>
        </p:txBody>
      </p:sp>
      <p:sp>
        <p:nvSpPr>
          <p:cNvPr id="11" name="TextBox 10">
            <a:extLst>
              <a:ext uri="{FF2B5EF4-FFF2-40B4-BE49-F238E27FC236}">
                <a16:creationId xmlns:a16="http://schemas.microsoft.com/office/drawing/2014/main" id="{3A018A20-96BF-FBF0-902F-9A0463CDD981}"/>
              </a:ext>
            </a:extLst>
          </p:cNvPr>
          <p:cNvSpPr txBox="1"/>
          <p:nvPr/>
        </p:nvSpPr>
        <p:spPr>
          <a:xfrm>
            <a:off x="3557460" y="4921403"/>
            <a:ext cx="2010935" cy="369332"/>
          </a:xfrm>
          <a:prstGeom prst="rect">
            <a:avLst/>
          </a:prstGeom>
          <a:noFill/>
        </p:spPr>
        <p:txBody>
          <a:bodyPr wrap="none" rtlCol="0">
            <a:spAutoFit/>
          </a:bodyPr>
          <a:lstStyle/>
          <a:p>
            <a:r>
              <a:rPr lang="en-US"/>
              <a:t>Unique to the spot</a:t>
            </a:r>
          </a:p>
        </p:txBody>
      </p:sp>
      <p:sp>
        <p:nvSpPr>
          <p:cNvPr id="12" name="TextBox 11">
            <a:extLst>
              <a:ext uri="{FF2B5EF4-FFF2-40B4-BE49-F238E27FC236}">
                <a16:creationId xmlns:a16="http://schemas.microsoft.com/office/drawing/2014/main" id="{1FB5A9DB-E0EF-EF63-B6D7-21004029B8C2}"/>
              </a:ext>
            </a:extLst>
          </p:cNvPr>
          <p:cNvSpPr txBox="1"/>
          <p:nvPr/>
        </p:nvSpPr>
        <p:spPr>
          <a:xfrm>
            <a:off x="3573903" y="5271783"/>
            <a:ext cx="2188228" cy="923330"/>
          </a:xfrm>
          <a:prstGeom prst="rect">
            <a:avLst/>
          </a:prstGeom>
          <a:noFill/>
        </p:spPr>
        <p:txBody>
          <a:bodyPr wrap="none" rtlCol="0">
            <a:spAutoFit/>
          </a:bodyPr>
          <a:lstStyle/>
          <a:p>
            <a:r>
              <a:rPr lang="en-US"/>
              <a:t>Tells software which</a:t>
            </a:r>
          </a:p>
          <a:p>
            <a:r>
              <a:rPr lang="en-US"/>
              <a:t>spot the read came</a:t>
            </a:r>
          </a:p>
          <a:p>
            <a:r>
              <a:rPr lang="en-US"/>
              <a:t>from </a:t>
            </a:r>
          </a:p>
        </p:txBody>
      </p:sp>
      <p:sp>
        <p:nvSpPr>
          <p:cNvPr id="18" name="TextBox 17">
            <a:extLst>
              <a:ext uri="{FF2B5EF4-FFF2-40B4-BE49-F238E27FC236}">
                <a16:creationId xmlns:a16="http://schemas.microsoft.com/office/drawing/2014/main" id="{F72FF177-F2A0-D7DC-5DAA-90B10C78E327}"/>
              </a:ext>
            </a:extLst>
          </p:cNvPr>
          <p:cNvSpPr txBox="1"/>
          <p:nvPr/>
        </p:nvSpPr>
        <p:spPr>
          <a:xfrm>
            <a:off x="6110999" y="4585546"/>
            <a:ext cx="2127505" cy="369332"/>
          </a:xfrm>
          <a:prstGeom prst="rect">
            <a:avLst/>
          </a:prstGeom>
          <a:noFill/>
        </p:spPr>
        <p:txBody>
          <a:bodyPr wrap="none" rtlCol="0">
            <a:spAutoFit/>
          </a:bodyPr>
          <a:lstStyle/>
          <a:p>
            <a:r>
              <a:rPr lang="en-US"/>
              <a:t>12 nucleotides long</a:t>
            </a:r>
          </a:p>
        </p:txBody>
      </p:sp>
      <p:sp>
        <p:nvSpPr>
          <p:cNvPr id="19" name="TextBox 18">
            <a:extLst>
              <a:ext uri="{FF2B5EF4-FFF2-40B4-BE49-F238E27FC236}">
                <a16:creationId xmlns:a16="http://schemas.microsoft.com/office/drawing/2014/main" id="{2266BBD9-7663-7D3D-6FE8-3E2BA1BCB1AE}"/>
              </a:ext>
            </a:extLst>
          </p:cNvPr>
          <p:cNvSpPr txBox="1"/>
          <p:nvPr/>
        </p:nvSpPr>
        <p:spPr>
          <a:xfrm>
            <a:off x="6649472" y="4934934"/>
            <a:ext cx="1184940" cy="923330"/>
          </a:xfrm>
          <a:prstGeom prst="rect">
            <a:avLst/>
          </a:prstGeom>
          <a:noFill/>
        </p:spPr>
        <p:txBody>
          <a:bodyPr wrap="none" rtlCol="0">
            <a:spAutoFit/>
          </a:bodyPr>
          <a:lstStyle/>
          <a:p>
            <a:r>
              <a:rPr lang="en-US"/>
              <a:t>Unique</a:t>
            </a:r>
          </a:p>
          <a:p>
            <a:r>
              <a:rPr lang="en-US"/>
              <a:t>Molecular</a:t>
            </a:r>
          </a:p>
          <a:p>
            <a:r>
              <a:rPr lang="en-US"/>
              <a:t>Identifier</a:t>
            </a:r>
          </a:p>
        </p:txBody>
      </p:sp>
      <p:sp>
        <p:nvSpPr>
          <p:cNvPr id="20" name="TextBox 19">
            <a:extLst>
              <a:ext uri="{FF2B5EF4-FFF2-40B4-BE49-F238E27FC236}">
                <a16:creationId xmlns:a16="http://schemas.microsoft.com/office/drawing/2014/main" id="{7C4B5976-7C63-6EFB-D2C7-239406C43439}"/>
              </a:ext>
            </a:extLst>
          </p:cNvPr>
          <p:cNvSpPr txBox="1"/>
          <p:nvPr/>
        </p:nvSpPr>
        <p:spPr>
          <a:xfrm>
            <a:off x="6096000" y="5858264"/>
            <a:ext cx="2609497" cy="646331"/>
          </a:xfrm>
          <a:prstGeom prst="rect">
            <a:avLst/>
          </a:prstGeom>
          <a:noFill/>
        </p:spPr>
        <p:txBody>
          <a:bodyPr wrap="none" rtlCol="0">
            <a:spAutoFit/>
          </a:bodyPr>
          <a:lstStyle/>
          <a:p>
            <a:r>
              <a:rPr lang="en-US"/>
              <a:t>Tells different molecules</a:t>
            </a:r>
          </a:p>
          <a:p>
            <a:r>
              <a:rPr lang="en-US"/>
              <a:t>in same spot apart</a:t>
            </a:r>
          </a:p>
        </p:txBody>
      </p:sp>
      <p:sp>
        <p:nvSpPr>
          <p:cNvPr id="21" name="TextBox 20">
            <a:extLst>
              <a:ext uri="{FF2B5EF4-FFF2-40B4-BE49-F238E27FC236}">
                <a16:creationId xmlns:a16="http://schemas.microsoft.com/office/drawing/2014/main" id="{28E17F45-8B12-D7A6-4204-1A2613E937B9}"/>
              </a:ext>
            </a:extLst>
          </p:cNvPr>
          <p:cNvSpPr txBox="1"/>
          <p:nvPr/>
        </p:nvSpPr>
        <p:spPr>
          <a:xfrm>
            <a:off x="8877705" y="4580792"/>
            <a:ext cx="2127505" cy="369332"/>
          </a:xfrm>
          <a:prstGeom prst="rect">
            <a:avLst/>
          </a:prstGeom>
          <a:noFill/>
        </p:spPr>
        <p:txBody>
          <a:bodyPr wrap="none" rtlCol="0">
            <a:spAutoFit/>
          </a:bodyPr>
          <a:lstStyle/>
          <a:p>
            <a:r>
              <a:rPr lang="en-US"/>
              <a:t>30 nucleotides long</a:t>
            </a:r>
          </a:p>
        </p:txBody>
      </p:sp>
      <p:sp>
        <p:nvSpPr>
          <p:cNvPr id="22" name="TextBox 21">
            <a:extLst>
              <a:ext uri="{FF2B5EF4-FFF2-40B4-BE49-F238E27FC236}">
                <a16:creationId xmlns:a16="http://schemas.microsoft.com/office/drawing/2014/main" id="{190FCB72-6D71-132E-7C12-9AB16B8D09C1}"/>
              </a:ext>
            </a:extLst>
          </p:cNvPr>
          <p:cNvSpPr txBox="1"/>
          <p:nvPr/>
        </p:nvSpPr>
        <p:spPr>
          <a:xfrm>
            <a:off x="8877705" y="4950124"/>
            <a:ext cx="2162836" cy="369332"/>
          </a:xfrm>
          <a:prstGeom prst="rect">
            <a:avLst/>
          </a:prstGeom>
          <a:noFill/>
        </p:spPr>
        <p:txBody>
          <a:bodyPr wrap="none" rtlCol="0">
            <a:spAutoFit/>
          </a:bodyPr>
          <a:lstStyle/>
          <a:p>
            <a:r>
              <a:rPr lang="en-US"/>
              <a:t>Captures the mRNA</a:t>
            </a:r>
          </a:p>
        </p:txBody>
      </p:sp>
      <p:sp>
        <p:nvSpPr>
          <p:cNvPr id="24" name="TextBox 23">
            <a:extLst>
              <a:ext uri="{FF2B5EF4-FFF2-40B4-BE49-F238E27FC236}">
                <a16:creationId xmlns:a16="http://schemas.microsoft.com/office/drawing/2014/main" id="{01BF4821-6F8B-96A6-B838-7EDC84ABF3A8}"/>
              </a:ext>
            </a:extLst>
          </p:cNvPr>
          <p:cNvSpPr txBox="1"/>
          <p:nvPr/>
        </p:nvSpPr>
        <p:spPr>
          <a:xfrm>
            <a:off x="8907921" y="5364116"/>
            <a:ext cx="2547108" cy="646331"/>
          </a:xfrm>
          <a:prstGeom prst="rect">
            <a:avLst/>
          </a:prstGeom>
          <a:noFill/>
        </p:spPr>
        <p:txBody>
          <a:bodyPr wrap="none" rtlCol="0">
            <a:spAutoFit/>
          </a:bodyPr>
          <a:lstStyle/>
          <a:p>
            <a:r>
              <a:rPr lang="en-US"/>
              <a:t>Specifies mature mRNA</a:t>
            </a:r>
          </a:p>
          <a:p>
            <a:r>
              <a:rPr lang="en-US"/>
              <a:t>using </a:t>
            </a:r>
            <a:r>
              <a:rPr lang="en-US" err="1"/>
              <a:t>polyA</a:t>
            </a:r>
            <a:r>
              <a:rPr lang="en-US"/>
              <a:t> mRNA tail</a:t>
            </a:r>
          </a:p>
        </p:txBody>
      </p:sp>
      <p:sp>
        <p:nvSpPr>
          <p:cNvPr id="25" name="TextBox 24">
            <a:extLst>
              <a:ext uri="{FF2B5EF4-FFF2-40B4-BE49-F238E27FC236}">
                <a16:creationId xmlns:a16="http://schemas.microsoft.com/office/drawing/2014/main" id="{A9D54F1C-C139-62E0-9D89-446F706C2297}"/>
              </a:ext>
            </a:extLst>
          </p:cNvPr>
          <p:cNvSpPr txBox="1"/>
          <p:nvPr/>
        </p:nvSpPr>
        <p:spPr>
          <a:xfrm>
            <a:off x="8877705" y="6123543"/>
            <a:ext cx="2753511" cy="369332"/>
          </a:xfrm>
          <a:prstGeom prst="rect">
            <a:avLst/>
          </a:prstGeom>
          <a:noFill/>
        </p:spPr>
        <p:txBody>
          <a:bodyPr wrap="none" rtlCol="0">
            <a:spAutoFit/>
          </a:bodyPr>
          <a:lstStyle/>
          <a:p>
            <a:r>
              <a:rPr lang="en-US"/>
              <a:t>Goes into cDNA synthesis</a:t>
            </a:r>
          </a:p>
        </p:txBody>
      </p:sp>
      <p:pic>
        <p:nvPicPr>
          <p:cNvPr id="26" name="Picture 25">
            <a:extLst>
              <a:ext uri="{FF2B5EF4-FFF2-40B4-BE49-F238E27FC236}">
                <a16:creationId xmlns:a16="http://schemas.microsoft.com/office/drawing/2014/main" id="{3704A7AF-14BF-AB2D-E93F-BE383C0DE857}"/>
              </a:ext>
            </a:extLst>
          </p:cNvPr>
          <p:cNvPicPr>
            <a:picLocks noChangeAspect="1"/>
          </p:cNvPicPr>
          <p:nvPr/>
        </p:nvPicPr>
        <p:blipFill>
          <a:blip r:embed="rId3"/>
          <a:stretch>
            <a:fillRect/>
          </a:stretch>
        </p:blipFill>
        <p:spPr>
          <a:xfrm>
            <a:off x="8877705" y="2334238"/>
            <a:ext cx="3136900" cy="1308100"/>
          </a:xfrm>
          <a:prstGeom prst="rect">
            <a:avLst/>
          </a:prstGeom>
        </p:spPr>
      </p:pic>
      <p:sp>
        <p:nvSpPr>
          <p:cNvPr id="3" name="TextBox 2">
            <a:extLst>
              <a:ext uri="{FF2B5EF4-FFF2-40B4-BE49-F238E27FC236}">
                <a16:creationId xmlns:a16="http://schemas.microsoft.com/office/drawing/2014/main" id="{7B8A5CE2-3BF1-0696-4401-A353D2BCA983}"/>
              </a:ext>
            </a:extLst>
          </p:cNvPr>
          <p:cNvSpPr txBox="1"/>
          <p:nvPr/>
        </p:nvSpPr>
        <p:spPr>
          <a:xfrm>
            <a:off x="645459" y="6507751"/>
            <a:ext cx="10140918" cy="261610"/>
          </a:xfrm>
          <a:prstGeom prst="rect">
            <a:avLst/>
          </a:prstGeom>
          <a:noFill/>
        </p:spPr>
        <p:txBody>
          <a:bodyPr wrap="none" lIns="91440" tIns="45720" rIns="91440" bIns="45720" rtlCol="0" anchor="t">
            <a:spAutoFit/>
          </a:bodyPr>
          <a:lstStyle/>
          <a:p>
            <a:r>
              <a:rPr lang="en-US" sz="1100"/>
              <a:t>https://www.10xgenomics.com/support/spatial-gene-expression-fresh-frozen/documentation/steps/tissue-prep/visium-spatial-protocols-tissue-preparation-guide</a:t>
            </a:r>
          </a:p>
        </p:txBody>
      </p:sp>
      <p:sp>
        <p:nvSpPr>
          <p:cNvPr id="10" name="Slide Number Placeholder 9">
            <a:extLst>
              <a:ext uri="{FF2B5EF4-FFF2-40B4-BE49-F238E27FC236}">
                <a16:creationId xmlns:a16="http://schemas.microsoft.com/office/drawing/2014/main" id="{B5F85987-039A-3E5B-83CB-08494E733B80}"/>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1564391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35F7B-399C-67D8-8E32-1F79A0431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37F84-17C1-6992-582C-0A2B41376726}"/>
              </a:ext>
            </a:extLst>
          </p:cNvPr>
          <p:cNvSpPr>
            <a:spLocks noGrp="1"/>
          </p:cNvSpPr>
          <p:nvPr>
            <p:ph type="title"/>
          </p:nvPr>
        </p:nvSpPr>
        <p:spPr>
          <a:xfrm>
            <a:off x="622635" y="284914"/>
            <a:ext cx="6424864" cy="1325563"/>
          </a:xfrm>
        </p:spPr>
        <p:txBody>
          <a:bodyPr/>
          <a:lstStyle/>
          <a:p>
            <a:r>
              <a:rPr lang="en-US"/>
              <a:t>10X </a:t>
            </a:r>
            <a:r>
              <a:rPr lang="en-US" err="1"/>
              <a:t>Visium</a:t>
            </a:r>
            <a:r>
              <a:rPr lang="en-US"/>
              <a:t> pipeline</a:t>
            </a:r>
          </a:p>
        </p:txBody>
      </p:sp>
      <p:sp>
        <p:nvSpPr>
          <p:cNvPr id="3" name="TextBox 2">
            <a:extLst>
              <a:ext uri="{FF2B5EF4-FFF2-40B4-BE49-F238E27FC236}">
                <a16:creationId xmlns:a16="http://schemas.microsoft.com/office/drawing/2014/main" id="{7ECFB3C5-0E9B-BEED-33DD-BB3BA6A516AC}"/>
              </a:ext>
            </a:extLst>
          </p:cNvPr>
          <p:cNvSpPr txBox="1"/>
          <p:nvPr/>
        </p:nvSpPr>
        <p:spPr>
          <a:xfrm>
            <a:off x="620234" y="1690688"/>
            <a:ext cx="5556201" cy="1754326"/>
          </a:xfrm>
          <a:prstGeom prst="rect">
            <a:avLst/>
          </a:prstGeom>
          <a:noFill/>
        </p:spPr>
        <p:txBody>
          <a:bodyPr wrap="none" rtlCol="0">
            <a:spAutoFit/>
          </a:bodyPr>
          <a:lstStyle/>
          <a:p>
            <a:r>
              <a:rPr lang="en-US"/>
              <a:t>Tissue is permeabilized and mRNA released from cells</a:t>
            </a:r>
          </a:p>
          <a:p>
            <a:endParaRPr lang="en-US"/>
          </a:p>
          <a:p>
            <a:r>
              <a:rPr lang="en-US"/>
              <a:t>cDNA is transcribed and second strand generated</a:t>
            </a:r>
          </a:p>
          <a:p>
            <a:endParaRPr lang="en-US"/>
          </a:p>
          <a:p>
            <a:r>
              <a:rPr lang="en-US"/>
              <a:t>Second strand is used for amplification (using PCR)</a:t>
            </a:r>
          </a:p>
          <a:p>
            <a:r>
              <a:rPr lang="en-US"/>
              <a:t>and library construction </a:t>
            </a:r>
          </a:p>
        </p:txBody>
      </p:sp>
      <p:pic>
        <p:nvPicPr>
          <p:cNvPr id="10" name="Picture 9">
            <a:extLst>
              <a:ext uri="{FF2B5EF4-FFF2-40B4-BE49-F238E27FC236}">
                <a16:creationId xmlns:a16="http://schemas.microsoft.com/office/drawing/2014/main" id="{DE6EFA5A-CD7D-70D1-E4CA-8BB06AFFF110}"/>
              </a:ext>
            </a:extLst>
          </p:cNvPr>
          <p:cNvPicPr>
            <a:picLocks noChangeAspect="1"/>
          </p:cNvPicPr>
          <p:nvPr/>
        </p:nvPicPr>
        <p:blipFill>
          <a:blip r:embed="rId2"/>
          <a:stretch>
            <a:fillRect/>
          </a:stretch>
        </p:blipFill>
        <p:spPr>
          <a:xfrm>
            <a:off x="7723971" y="0"/>
            <a:ext cx="4308809" cy="6858000"/>
          </a:xfrm>
          <a:prstGeom prst="rect">
            <a:avLst/>
          </a:prstGeom>
        </p:spPr>
      </p:pic>
      <p:pic>
        <p:nvPicPr>
          <p:cNvPr id="13" name="Picture 12">
            <a:extLst>
              <a:ext uri="{FF2B5EF4-FFF2-40B4-BE49-F238E27FC236}">
                <a16:creationId xmlns:a16="http://schemas.microsoft.com/office/drawing/2014/main" id="{7591741E-5398-673C-BC44-DF87F8FD2936}"/>
              </a:ext>
            </a:extLst>
          </p:cNvPr>
          <p:cNvPicPr>
            <a:picLocks noChangeAspect="1"/>
          </p:cNvPicPr>
          <p:nvPr/>
        </p:nvPicPr>
        <p:blipFill>
          <a:blip r:embed="rId3"/>
          <a:stretch>
            <a:fillRect/>
          </a:stretch>
        </p:blipFill>
        <p:spPr>
          <a:xfrm>
            <a:off x="620234" y="3779977"/>
            <a:ext cx="4787900" cy="1981200"/>
          </a:xfrm>
          <a:prstGeom prst="rect">
            <a:avLst/>
          </a:prstGeom>
        </p:spPr>
      </p:pic>
      <p:sp>
        <p:nvSpPr>
          <p:cNvPr id="4" name="TextBox 3">
            <a:extLst>
              <a:ext uri="{FF2B5EF4-FFF2-40B4-BE49-F238E27FC236}">
                <a16:creationId xmlns:a16="http://schemas.microsoft.com/office/drawing/2014/main" id="{EE10F579-5FBB-45CA-EAFF-DD3D08FA5729}"/>
              </a:ext>
            </a:extLst>
          </p:cNvPr>
          <p:cNvSpPr txBox="1"/>
          <p:nvPr/>
        </p:nvSpPr>
        <p:spPr>
          <a:xfrm>
            <a:off x="645459" y="6529019"/>
            <a:ext cx="10140918" cy="261610"/>
          </a:xfrm>
          <a:prstGeom prst="rect">
            <a:avLst/>
          </a:prstGeom>
          <a:noFill/>
        </p:spPr>
        <p:txBody>
          <a:bodyPr wrap="none" lIns="91440" tIns="45720" rIns="91440" bIns="45720" rtlCol="0" anchor="t">
            <a:spAutoFit/>
          </a:bodyPr>
          <a:lstStyle/>
          <a:p>
            <a:r>
              <a:rPr lang="en-US" sz="1100"/>
              <a:t>https://www.10xgenomics.com/support/spatial-gene-expression-fresh-frozen/documentation/steps/tissue-prep/visium-spatial-protocols-tissue-preparation-guide</a:t>
            </a:r>
          </a:p>
        </p:txBody>
      </p:sp>
      <p:sp>
        <p:nvSpPr>
          <p:cNvPr id="5" name="Slide Number Placeholder 4">
            <a:extLst>
              <a:ext uri="{FF2B5EF4-FFF2-40B4-BE49-F238E27FC236}">
                <a16:creationId xmlns:a16="http://schemas.microsoft.com/office/drawing/2014/main" id="{8DF95340-E641-5378-43E7-B329A6B0376F}"/>
              </a:ext>
            </a:extLst>
          </p:cNvPr>
          <p:cNvSpPr>
            <a:spLocks noGrp="1"/>
          </p:cNvSpPr>
          <p:nvPr>
            <p:ph type="sldNum" sz="quarter" idx="12"/>
          </p:nvPr>
        </p:nvSpPr>
        <p:spPr>
          <a:xfrm>
            <a:off x="128337" y="6346324"/>
            <a:ext cx="376990" cy="340060"/>
          </a:xfrm>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523739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C82E0-C26C-3D59-A91B-75F1FB2F3C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2D6A7-883B-3A83-699F-BABEA5E7A5CF}"/>
              </a:ext>
            </a:extLst>
          </p:cNvPr>
          <p:cNvSpPr>
            <a:spLocks noGrp="1"/>
          </p:cNvSpPr>
          <p:nvPr>
            <p:ph type="title"/>
          </p:nvPr>
        </p:nvSpPr>
        <p:spPr/>
        <p:txBody>
          <a:bodyPr/>
          <a:lstStyle/>
          <a:p>
            <a:pPr algn="ctr"/>
            <a:r>
              <a:rPr lang="en-US"/>
              <a:t>Spatial Deconvolution</a:t>
            </a:r>
          </a:p>
        </p:txBody>
      </p:sp>
      <p:pic>
        <p:nvPicPr>
          <p:cNvPr id="2052" name="Picture 4">
            <a:extLst>
              <a:ext uri="{FF2B5EF4-FFF2-40B4-BE49-F238E27FC236}">
                <a16:creationId xmlns:a16="http://schemas.microsoft.com/office/drawing/2014/main" id="{2D8C7EB1-5745-D6BC-6142-872004D40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241" y="1879168"/>
            <a:ext cx="10776559" cy="30996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DC1D6BD-223B-8F51-221D-CAAD67E49C6F}"/>
              </a:ext>
            </a:extLst>
          </p:cNvPr>
          <p:cNvSpPr txBox="1"/>
          <p:nvPr/>
        </p:nvSpPr>
        <p:spPr>
          <a:xfrm>
            <a:off x="89891" y="6309223"/>
            <a:ext cx="7607525" cy="276999"/>
          </a:xfrm>
          <a:prstGeom prst="rect">
            <a:avLst/>
          </a:prstGeom>
          <a:noFill/>
        </p:spPr>
        <p:txBody>
          <a:bodyPr wrap="square">
            <a:spAutoFit/>
          </a:bodyPr>
          <a:lstStyle/>
          <a:p>
            <a:r>
              <a:rPr lang="en-US" sz="1200"/>
              <a:t>https://www.10xgenomics.com/analysis-guides/integrating-single-cell-and-</a:t>
            </a:r>
            <a:r>
              <a:rPr lang="en-US" sz="1200" err="1"/>
              <a:t>visium</a:t>
            </a:r>
            <a:r>
              <a:rPr lang="en-US" sz="1200"/>
              <a:t>-spatial-gene-expression-data</a:t>
            </a:r>
          </a:p>
        </p:txBody>
      </p:sp>
      <p:sp>
        <p:nvSpPr>
          <p:cNvPr id="3" name="Slide Number Placeholder 2">
            <a:extLst>
              <a:ext uri="{FF2B5EF4-FFF2-40B4-BE49-F238E27FC236}">
                <a16:creationId xmlns:a16="http://schemas.microsoft.com/office/drawing/2014/main" id="{0AA25EA9-F240-776B-D850-9489B6395BC5}"/>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2400625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B56C-4876-6059-7C8C-91C9948594E2}"/>
              </a:ext>
            </a:extLst>
          </p:cNvPr>
          <p:cNvSpPr>
            <a:spLocks noGrp="1"/>
          </p:cNvSpPr>
          <p:nvPr>
            <p:ph type="title"/>
          </p:nvPr>
        </p:nvSpPr>
        <p:spPr>
          <a:xfrm>
            <a:off x="838200" y="5191125"/>
            <a:ext cx="10515600" cy="1325563"/>
          </a:xfrm>
        </p:spPr>
        <p:txBody>
          <a:bodyPr/>
          <a:lstStyle/>
          <a:p>
            <a:r>
              <a:rPr lang="en-US"/>
              <a:t>The goal of RCTD Deconvolution is to estimate the unknown cell type proportions </a:t>
            </a:r>
          </a:p>
        </p:txBody>
      </p:sp>
      <p:pic>
        <p:nvPicPr>
          <p:cNvPr id="5" name="Picture 4" descr="A diagram of a cell type formation&#10;&#10;AI-generated content may be incorrect.">
            <a:extLst>
              <a:ext uri="{FF2B5EF4-FFF2-40B4-BE49-F238E27FC236}">
                <a16:creationId xmlns:a16="http://schemas.microsoft.com/office/drawing/2014/main" id="{FC49A8C4-ACAA-8124-4D52-43820E79709A}"/>
              </a:ext>
            </a:extLst>
          </p:cNvPr>
          <p:cNvPicPr>
            <a:picLocks noChangeAspect="1"/>
          </p:cNvPicPr>
          <p:nvPr/>
        </p:nvPicPr>
        <p:blipFill>
          <a:blip r:embed="rId3"/>
          <a:srcRect t="6798" r="80680" b="-179"/>
          <a:stretch>
            <a:fillRect/>
          </a:stretch>
        </p:blipFill>
        <p:spPr>
          <a:xfrm>
            <a:off x="210446" y="663744"/>
            <a:ext cx="2437056" cy="4069819"/>
          </a:xfrm>
          <a:prstGeom prst="rect">
            <a:avLst/>
          </a:prstGeom>
        </p:spPr>
      </p:pic>
      <p:graphicFrame>
        <p:nvGraphicFramePr>
          <p:cNvPr id="7" name="Table 6">
            <a:extLst>
              <a:ext uri="{FF2B5EF4-FFF2-40B4-BE49-F238E27FC236}">
                <a16:creationId xmlns:a16="http://schemas.microsoft.com/office/drawing/2014/main" id="{A925F7BC-7BAB-49EA-342B-5A4E452C92D3}"/>
              </a:ext>
            </a:extLst>
          </p:cNvPr>
          <p:cNvGraphicFramePr>
            <a:graphicFrameLocks noGrp="1"/>
          </p:cNvGraphicFramePr>
          <p:nvPr>
            <p:extLst>
              <p:ext uri="{D42A27DB-BD31-4B8C-83A1-F6EECF244321}">
                <p14:modId xmlns:p14="http://schemas.microsoft.com/office/powerpoint/2010/main" val="3079256360"/>
              </p:ext>
            </p:extLst>
          </p:nvPr>
        </p:nvGraphicFramePr>
        <p:xfrm>
          <a:off x="3759199" y="1937657"/>
          <a:ext cx="3769335" cy="1124673"/>
        </p:xfrm>
        <a:graphic>
          <a:graphicData uri="http://schemas.openxmlformats.org/drawingml/2006/table">
            <a:tbl>
              <a:tblPr firstRow="1" bandRow="1">
                <a:tableStyleId>{5C22544A-7EE6-4342-B048-85BDC9FD1C3A}</a:tableStyleId>
              </a:tblPr>
              <a:tblGrid>
                <a:gridCol w="1256445">
                  <a:extLst>
                    <a:ext uri="{9D8B030D-6E8A-4147-A177-3AD203B41FA5}">
                      <a16:colId xmlns:a16="http://schemas.microsoft.com/office/drawing/2014/main" val="1215659407"/>
                    </a:ext>
                  </a:extLst>
                </a:gridCol>
                <a:gridCol w="1256445">
                  <a:extLst>
                    <a:ext uri="{9D8B030D-6E8A-4147-A177-3AD203B41FA5}">
                      <a16:colId xmlns:a16="http://schemas.microsoft.com/office/drawing/2014/main" val="810990769"/>
                    </a:ext>
                  </a:extLst>
                </a:gridCol>
                <a:gridCol w="1256445">
                  <a:extLst>
                    <a:ext uri="{9D8B030D-6E8A-4147-A177-3AD203B41FA5}">
                      <a16:colId xmlns:a16="http://schemas.microsoft.com/office/drawing/2014/main" val="334436777"/>
                    </a:ext>
                  </a:extLst>
                </a:gridCol>
              </a:tblGrid>
              <a:tr h="393153">
                <a:tc>
                  <a:txBody>
                    <a:bodyPr/>
                    <a:lstStyle/>
                    <a:p>
                      <a:pPr lvl="0">
                        <a:buNone/>
                      </a:pPr>
                      <a:r>
                        <a:rPr lang="en-US"/>
                        <a:t>Gene</a:t>
                      </a:r>
                    </a:p>
                  </a:txBody>
                  <a:tcPr/>
                </a:tc>
                <a:tc>
                  <a:txBody>
                    <a:bodyPr/>
                    <a:lstStyle/>
                    <a:p>
                      <a:r>
                        <a:rPr lang="en-US"/>
                        <a:t>T Cell</a:t>
                      </a:r>
                    </a:p>
                  </a:txBody>
                  <a:tcPr/>
                </a:tc>
                <a:tc>
                  <a:txBody>
                    <a:bodyPr/>
                    <a:lstStyle/>
                    <a:p>
                      <a:r>
                        <a:rPr lang="en-US"/>
                        <a:t>Fibroblast</a:t>
                      </a:r>
                    </a:p>
                  </a:txBody>
                  <a:tcPr/>
                </a:tc>
                <a:extLst>
                  <a:ext uri="{0D108BD9-81ED-4DB2-BD59-A6C34878D82A}">
                    <a16:rowId xmlns:a16="http://schemas.microsoft.com/office/drawing/2014/main" val="1729123591"/>
                  </a:ext>
                </a:extLst>
              </a:tr>
              <a:tr h="336989">
                <a:tc>
                  <a:txBody>
                    <a:bodyPr/>
                    <a:lstStyle/>
                    <a:p>
                      <a:r>
                        <a:rPr lang="en-US"/>
                        <a:t>CD3D</a:t>
                      </a:r>
                    </a:p>
                  </a:txBody>
                  <a:tcPr/>
                </a:tc>
                <a:tc>
                  <a:txBody>
                    <a:bodyPr/>
                    <a:lstStyle/>
                    <a:p>
                      <a:r>
                        <a:rPr lang="en-US"/>
                        <a:t>High</a:t>
                      </a:r>
                    </a:p>
                  </a:txBody>
                  <a:tcPr/>
                </a:tc>
                <a:tc>
                  <a:txBody>
                    <a:bodyPr/>
                    <a:lstStyle/>
                    <a:p>
                      <a:r>
                        <a:rPr lang="en-US"/>
                        <a:t>Low</a:t>
                      </a:r>
                    </a:p>
                  </a:txBody>
                  <a:tcPr/>
                </a:tc>
                <a:extLst>
                  <a:ext uri="{0D108BD9-81ED-4DB2-BD59-A6C34878D82A}">
                    <a16:rowId xmlns:a16="http://schemas.microsoft.com/office/drawing/2014/main" val="2060630134"/>
                  </a:ext>
                </a:extLst>
              </a:tr>
              <a:tr h="336989">
                <a:tc>
                  <a:txBody>
                    <a:bodyPr/>
                    <a:lstStyle/>
                    <a:p>
                      <a:r>
                        <a:rPr lang="en-US"/>
                        <a:t>COL1A1</a:t>
                      </a:r>
                    </a:p>
                  </a:txBody>
                  <a:tcPr/>
                </a:tc>
                <a:tc>
                  <a:txBody>
                    <a:bodyPr/>
                    <a:lstStyle/>
                    <a:p>
                      <a:r>
                        <a:rPr lang="en-US"/>
                        <a:t>Low</a:t>
                      </a:r>
                    </a:p>
                  </a:txBody>
                  <a:tcPr/>
                </a:tc>
                <a:tc>
                  <a:txBody>
                    <a:bodyPr/>
                    <a:lstStyle/>
                    <a:p>
                      <a:r>
                        <a:rPr lang="en-US"/>
                        <a:t>High</a:t>
                      </a:r>
                    </a:p>
                  </a:txBody>
                  <a:tcPr/>
                </a:tc>
                <a:extLst>
                  <a:ext uri="{0D108BD9-81ED-4DB2-BD59-A6C34878D82A}">
                    <a16:rowId xmlns:a16="http://schemas.microsoft.com/office/drawing/2014/main" val="3430748169"/>
                  </a:ext>
                </a:extLst>
              </a:tr>
            </a:tbl>
          </a:graphicData>
        </a:graphic>
      </p:graphicFrame>
      <p:sp>
        <p:nvSpPr>
          <p:cNvPr id="8" name="TextBox 7">
            <a:extLst>
              <a:ext uri="{FF2B5EF4-FFF2-40B4-BE49-F238E27FC236}">
                <a16:creationId xmlns:a16="http://schemas.microsoft.com/office/drawing/2014/main" id="{9FD7A3C9-2065-3CDF-9B5F-E1EED9C4C78B}"/>
              </a:ext>
            </a:extLst>
          </p:cNvPr>
          <p:cNvSpPr txBox="1"/>
          <p:nvPr/>
        </p:nvSpPr>
        <p:spPr>
          <a:xfrm>
            <a:off x="8797378" y="1551232"/>
            <a:ext cx="221529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latin typeface="Garamond"/>
              </a:rPr>
              <a:t>Y = </a:t>
            </a:r>
            <a:r>
              <a:rPr lang="en-US" sz="4400" err="1">
                <a:latin typeface="Garamond"/>
              </a:rPr>
              <a:t>Xw</a:t>
            </a:r>
          </a:p>
        </p:txBody>
      </p:sp>
      <p:sp>
        <p:nvSpPr>
          <p:cNvPr id="9" name="TextBox 8">
            <a:extLst>
              <a:ext uri="{FF2B5EF4-FFF2-40B4-BE49-F238E27FC236}">
                <a16:creationId xmlns:a16="http://schemas.microsoft.com/office/drawing/2014/main" id="{B1CE60A9-3D76-3B7D-E8AD-942E5F77A36D}"/>
              </a:ext>
            </a:extLst>
          </p:cNvPr>
          <p:cNvSpPr txBox="1"/>
          <p:nvPr/>
        </p:nvSpPr>
        <p:spPr>
          <a:xfrm>
            <a:off x="8286536" y="2492866"/>
            <a:ext cx="367615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alibri"/>
                <a:ea typeface="Calibri"/>
                <a:cs typeface="Calibri"/>
              </a:rPr>
              <a:t>Y = observed spatial counts </a:t>
            </a:r>
          </a:p>
          <a:p>
            <a:r>
              <a:rPr lang="en-US">
                <a:latin typeface="Calibri"/>
                <a:ea typeface="Calibri"/>
                <a:cs typeface="Calibri"/>
              </a:rPr>
              <a:t>X = reference expression profiles </a:t>
            </a:r>
          </a:p>
          <a:p>
            <a:r>
              <a:rPr lang="en-US">
                <a:latin typeface="Calibri"/>
                <a:ea typeface="Calibri"/>
                <a:cs typeface="Calibri"/>
              </a:rPr>
              <a:t>W = unknown cell type proportions </a:t>
            </a:r>
          </a:p>
        </p:txBody>
      </p:sp>
      <p:sp>
        <p:nvSpPr>
          <p:cNvPr id="10" name="TextBox 9">
            <a:extLst>
              <a:ext uri="{FF2B5EF4-FFF2-40B4-BE49-F238E27FC236}">
                <a16:creationId xmlns:a16="http://schemas.microsoft.com/office/drawing/2014/main" id="{AFFB9745-3383-1467-029C-FC814687713C}"/>
              </a:ext>
            </a:extLst>
          </p:cNvPr>
          <p:cNvSpPr txBox="1"/>
          <p:nvPr/>
        </p:nvSpPr>
        <p:spPr>
          <a:xfrm>
            <a:off x="3371579" y="5826364"/>
            <a:ext cx="8311298" cy="6912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Slide Number Placeholder 2">
            <a:extLst>
              <a:ext uri="{FF2B5EF4-FFF2-40B4-BE49-F238E27FC236}">
                <a16:creationId xmlns:a16="http://schemas.microsoft.com/office/drawing/2014/main" id="{E8B3D4BE-A756-F9A5-9CA3-2BB43D3BD599}"/>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extBox 5">
            <a:extLst>
              <a:ext uri="{FF2B5EF4-FFF2-40B4-BE49-F238E27FC236}">
                <a16:creationId xmlns:a16="http://schemas.microsoft.com/office/drawing/2014/main" id="{490344AF-E1D1-FC8A-DDD9-5517B45AF6BA}"/>
              </a:ext>
            </a:extLst>
          </p:cNvPr>
          <p:cNvSpPr txBox="1"/>
          <p:nvPr/>
        </p:nvSpPr>
        <p:spPr>
          <a:xfrm>
            <a:off x="55865" y="6513157"/>
            <a:ext cx="8750594" cy="276999"/>
          </a:xfrm>
          <a:prstGeom prst="rect">
            <a:avLst/>
          </a:prstGeom>
          <a:noFill/>
        </p:spPr>
        <p:txBody>
          <a:bodyPr wrap="square">
            <a:spAutoFit/>
          </a:bodyPr>
          <a:lstStyle/>
          <a:p>
            <a:r>
              <a:rPr lang="en-US" sz="1200"/>
              <a:t>Cable, D. M. </a:t>
            </a:r>
            <a:r>
              <a:rPr lang="en-US" sz="1200" i="1"/>
              <a:t>et al.</a:t>
            </a:r>
            <a:r>
              <a:rPr lang="en-US" sz="1200"/>
              <a:t> Robust decomposition of cell type mixtures in spatial transcriptomics. </a:t>
            </a:r>
            <a:r>
              <a:rPr lang="en-US" sz="1200" i="1"/>
              <a:t>Nature Biotechnology</a:t>
            </a:r>
            <a:r>
              <a:rPr lang="en-US" sz="1200"/>
              <a:t> </a:t>
            </a:r>
            <a:r>
              <a:rPr lang="en-US" sz="1200" b="1"/>
              <a:t>40</a:t>
            </a:r>
            <a:r>
              <a:rPr lang="en-US" sz="1200"/>
              <a:t>, 517–526 (2021).</a:t>
            </a:r>
          </a:p>
        </p:txBody>
      </p:sp>
    </p:spTree>
    <p:extLst>
      <p:ext uri="{BB962C8B-B14F-4D97-AF65-F5344CB8AC3E}">
        <p14:creationId xmlns:p14="http://schemas.microsoft.com/office/powerpoint/2010/main" val="412291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2993D-249C-8BF5-C2FB-950EB3FE0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D6060-8B60-8C75-AB3F-CC1C415265C7}"/>
              </a:ext>
            </a:extLst>
          </p:cNvPr>
          <p:cNvSpPr>
            <a:spLocks noGrp="1"/>
          </p:cNvSpPr>
          <p:nvPr>
            <p:ph type="title"/>
          </p:nvPr>
        </p:nvSpPr>
        <p:spPr>
          <a:xfrm>
            <a:off x="127000" y="2268"/>
            <a:ext cx="11937999" cy="1340077"/>
          </a:xfrm>
        </p:spPr>
        <p:txBody>
          <a:bodyPr/>
          <a:lstStyle/>
          <a:p>
            <a:r>
              <a:rPr lang="en-US" sz="3600"/>
              <a:t>RCTD Estimates the Cellular Composition of Each Spatial Spot</a:t>
            </a:r>
          </a:p>
        </p:txBody>
      </p:sp>
      <p:pic>
        <p:nvPicPr>
          <p:cNvPr id="3" name="Picture 2">
            <a:extLst>
              <a:ext uri="{FF2B5EF4-FFF2-40B4-BE49-F238E27FC236}">
                <a16:creationId xmlns:a16="http://schemas.microsoft.com/office/drawing/2014/main" id="{D1D179FA-EB82-CBCA-4EC9-30200A68330C}"/>
              </a:ext>
            </a:extLst>
          </p:cNvPr>
          <p:cNvPicPr>
            <a:picLocks noChangeAspect="1"/>
          </p:cNvPicPr>
          <p:nvPr/>
        </p:nvPicPr>
        <p:blipFill>
          <a:blip r:embed="rId3"/>
          <a:stretch>
            <a:fillRect/>
          </a:stretch>
        </p:blipFill>
        <p:spPr>
          <a:xfrm>
            <a:off x="333817" y="1740312"/>
            <a:ext cx="11524366" cy="4055204"/>
          </a:xfrm>
          <a:prstGeom prst="rect">
            <a:avLst/>
          </a:prstGeom>
        </p:spPr>
      </p:pic>
      <p:sp>
        <p:nvSpPr>
          <p:cNvPr id="4" name="TextBox 3">
            <a:extLst>
              <a:ext uri="{FF2B5EF4-FFF2-40B4-BE49-F238E27FC236}">
                <a16:creationId xmlns:a16="http://schemas.microsoft.com/office/drawing/2014/main" id="{24046A60-B20E-571E-1971-14AE6D423F2A}"/>
              </a:ext>
            </a:extLst>
          </p:cNvPr>
          <p:cNvSpPr txBox="1"/>
          <p:nvPr/>
        </p:nvSpPr>
        <p:spPr>
          <a:xfrm>
            <a:off x="244551" y="6338986"/>
            <a:ext cx="8750594" cy="276999"/>
          </a:xfrm>
          <a:prstGeom prst="rect">
            <a:avLst/>
          </a:prstGeom>
          <a:noFill/>
        </p:spPr>
        <p:txBody>
          <a:bodyPr wrap="square">
            <a:spAutoFit/>
          </a:bodyPr>
          <a:lstStyle/>
          <a:p>
            <a:r>
              <a:rPr lang="en-US" sz="1200"/>
              <a:t>Cable, D. M. </a:t>
            </a:r>
            <a:r>
              <a:rPr lang="en-US" sz="1200" i="1"/>
              <a:t>et al.</a:t>
            </a:r>
            <a:r>
              <a:rPr lang="en-US" sz="1200"/>
              <a:t> Robust decomposition of cell type mixtures in spatial transcriptomics. </a:t>
            </a:r>
            <a:r>
              <a:rPr lang="en-US" sz="1200" i="1"/>
              <a:t>Nature Biotechnology</a:t>
            </a:r>
            <a:r>
              <a:rPr lang="en-US" sz="1200"/>
              <a:t> </a:t>
            </a:r>
            <a:r>
              <a:rPr lang="en-US" sz="1200" b="1"/>
              <a:t>40</a:t>
            </a:r>
            <a:r>
              <a:rPr lang="en-US" sz="1200"/>
              <a:t>, 517–526 (2021).</a:t>
            </a:r>
          </a:p>
        </p:txBody>
      </p:sp>
      <p:sp>
        <p:nvSpPr>
          <p:cNvPr id="5" name="Slide Number Placeholder 4">
            <a:extLst>
              <a:ext uri="{FF2B5EF4-FFF2-40B4-BE49-F238E27FC236}">
                <a16:creationId xmlns:a16="http://schemas.microsoft.com/office/drawing/2014/main" id="{58CEF6C9-63AE-7180-C610-8728DF96BD61}"/>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2598493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5CA1-8706-B40E-28CB-91ABA54E7FAF}"/>
              </a:ext>
            </a:extLst>
          </p:cNvPr>
          <p:cNvSpPr>
            <a:spLocks noGrp="1"/>
          </p:cNvSpPr>
          <p:nvPr>
            <p:ph type="title"/>
          </p:nvPr>
        </p:nvSpPr>
        <p:spPr>
          <a:xfrm>
            <a:off x="838200" y="-1552"/>
            <a:ext cx="10515600" cy="1325563"/>
          </a:xfrm>
        </p:spPr>
        <p:txBody>
          <a:bodyPr/>
          <a:lstStyle/>
          <a:p>
            <a:r>
              <a:rPr lang="en-US"/>
              <a:t>RCTD deconvolution steps</a:t>
            </a:r>
          </a:p>
        </p:txBody>
      </p:sp>
      <p:sp>
        <p:nvSpPr>
          <p:cNvPr id="3" name="Content Placeholder 2">
            <a:extLst>
              <a:ext uri="{FF2B5EF4-FFF2-40B4-BE49-F238E27FC236}">
                <a16:creationId xmlns:a16="http://schemas.microsoft.com/office/drawing/2014/main" id="{70A6109E-4FAA-35D9-E4F5-8988FBC4D7C4}"/>
              </a:ext>
            </a:extLst>
          </p:cNvPr>
          <p:cNvSpPr>
            <a:spLocks noGrp="1"/>
          </p:cNvSpPr>
          <p:nvPr>
            <p:ph idx="1"/>
          </p:nvPr>
        </p:nvSpPr>
        <p:spPr>
          <a:xfrm>
            <a:off x="838200" y="1183941"/>
            <a:ext cx="10515600" cy="4993022"/>
          </a:xfrm>
        </p:spPr>
        <p:txBody>
          <a:bodyPr vert="horz" lIns="91440" tIns="45720" rIns="91440" bIns="45720" rtlCol="0" anchor="t">
            <a:normAutofit/>
          </a:bodyPr>
          <a:lstStyle/>
          <a:p>
            <a:pPr marL="514350" indent="-514350">
              <a:buAutoNum type="arabicPeriod"/>
            </a:pPr>
            <a:r>
              <a:rPr lang="en-US"/>
              <a:t>Calculate average expression profile for each cell type from single-cell reference. Expression profiles contain only cell type DEGs</a:t>
            </a:r>
          </a:p>
          <a:p>
            <a:pPr marL="514350" indent="-514350">
              <a:buAutoNum type="arabicPeriod"/>
            </a:pPr>
            <a:r>
              <a:rPr lang="en-US">
                <a:ea typeface="+mn-lt"/>
                <a:cs typeface="+mn-lt"/>
              </a:rPr>
              <a:t>For each spot - make initial estimates of cell-type proportions most likely to contribute to that spot's expression profile using model and distribution assumptions</a:t>
            </a:r>
          </a:p>
          <a:p>
            <a:pPr marL="514350" indent="-514350">
              <a:buAutoNum type="arabicPeriod"/>
            </a:pPr>
            <a:r>
              <a:rPr lang="en-US">
                <a:ea typeface="+mn-lt"/>
                <a:cs typeface="+mn-lt"/>
              </a:rPr>
              <a:t>Add model components accounting for technical bias and noise</a:t>
            </a:r>
          </a:p>
          <a:p>
            <a:pPr marL="514350" indent="-514350">
              <a:buAutoNum type="arabicPeriod"/>
            </a:pPr>
            <a:r>
              <a:rPr lang="en-US">
                <a:ea typeface="+mn-lt"/>
                <a:cs typeface="+mn-lt"/>
              </a:rPr>
              <a:t>Iteratively adjusts the proportions to maximize the likelihood of each spot's expression profile matching estimated cell type distribution (MLE algorithm)</a:t>
            </a:r>
          </a:p>
          <a:p>
            <a:pPr>
              <a:buAutoNum type="arabicPeriod"/>
            </a:pPr>
            <a:endParaRPr lang="en-US">
              <a:ea typeface="+mn-lt"/>
              <a:cs typeface="+mn-lt"/>
            </a:endParaRPr>
          </a:p>
        </p:txBody>
      </p:sp>
      <p:sp>
        <p:nvSpPr>
          <p:cNvPr id="5" name="TextBox 4">
            <a:extLst>
              <a:ext uri="{FF2B5EF4-FFF2-40B4-BE49-F238E27FC236}">
                <a16:creationId xmlns:a16="http://schemas.microsoft.com/office/drawing/2014/main" id="{9781C5EC-9523-8F2F-D99C-37122BF57B7A}"/>
              </a:ext>
            </a:extLst>
          </p:cNvPr>
          <p:cNvSpPr txBox="1"/>
          <p:nvPr/>
        </p:nvSpPr>
        <p:spPr>
          <a:xfrm>
            <a:off x="244551" y="6338986"/>
            <a:ext cx="8750594" cy="276999"/>
          </a:xfrm>
          <a:prstGeom prst="rect">
            <a:avLst/>
          </a:prstGeom>
          <a:noFill/>
        </p:spPr>
        <p:txBody>
          <a:bodyPr wrap="square">
            <a:spAutoFit/>
          </a:bodyPr>
          <a:lstStyle/>
          <a:p>
            <a:r>
              <a:rPr lang="en-US" sz="1200"/>
              <a:t>Cable, D. M. </a:t>
            </a:r>
            <a:r>
              <a:rPr lang="en-US" sz="1200" i="1"/>
              <a:t>et al.</a:t>
            </a:r>
            <a:r>
              <a:rPr lang="en-US" sz="1200"/>
              <a:t> Robust decomposition of cell type mixtures in spatial transcriptomics. </a:t>
            </a:r>
            <a:r>
              <a:rPr lang="en-US" sz="1200" i="1"/>
              <a:t>Nature Biotechnology</a:t>
            </a:r>
            <a:r>
              <a:rPr lang="en-US" sz="1200"/>
              <a:t> </a:t>
            </a:r>
            <a:r>
              <a:rPr lang="en-US" sz="1200" b="1"/>
              <a:t>40</a:t>
            </a:r>
            <a:r>
              <a:rPr lang="en-US" sz="1200"/>
              <a:t>, 517–526 (2021).</a:t>
            </a:r>
          </a:p>
        </p:txBody>
      </p:sp>
      <p:sp>
        <p:nvSpPr>
          <p:cNvPr id="4" name="Slide Number Placeholder 3">
            <a:extLst>
              <a:ext uri="{FF2B5EF4-FFF2-40B4-BE49-F238E27FC236}">
                <a16:creationId xmlns:a16="http://schemas.microsoft.com/office/drawing/2014/main" id="{FFE88ACF-16B5-1D7C-26A5-FB858D46F0C7}"/>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1081178196"/>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24BCA29-0ECF-86EC-966F-E4028B783ECD}"/>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E575FDA1-FC35-B855-3CA9-A33D6B748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0080" y="1749884"/>
            <a:ext cx="5614614" cy="40144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D84AFB0-3836-8BE4-5F48-AD8176A92622}"/>
              </a:ext>
            </a:extLst>
          </p:cNvPr>
          <p:cNvSpPr>
            <a:spLocks noGrp="1"/>
          </p:cNvSpPr>
          <p:nvPr>
            <p:ph type="title"/>
          </p:nvPr>
        </p:nvSpPr>
        <p:spPr/>
        <p:txBody>
          <a:bodyPr/>
          <a:lstStyle/>
          <a:p>
            <a:r>
              <a:rPr lang="en-US"/>
              <a:t>Spatial transcriptomics data analysis</a:t>
            </a:r>
          </a:p>
        </p:txBody>
      </p:sp>
      <p:sp>
        <p:nvSpPr>
          <p:cNvPr id="3" name="Content Placeholder 2">
            <a:extLst>
              <a:ext uri="{FF2B5EF4-FFF2-40B4-BE49-F238E27FC236}">
                <a16:creationId xmlns:a16="http://schemas.microsoft.com/office/drawing/2014/main" id="{C8BB5730-8FA1-10F5-8FC6-EBAF89038FAA}"/>
              </a:ext>
            </a:extLst>
          </p:cNvPr>
          <p:cNvSpPr>
            <a:spLocks noGrp="1"/>
          </p:cNvSpPr>
          <p:nvPr>
            <p:ph idx="1"/>
          </p:nvPr>
        </p:nvSpPr>
        <p:spPr>
          <a:xfrm>
            <a:off x="400424" y="2306212"/>
            <a:ext cx="5438588" cy="2901763"/>
          </a:xfrm>
        </p:spPr>
        <p:txBody>
          <a:bodyPr/>
          <a:lstStyle/>
          <a:p>
            <a:r>
              <a:rPr lang="en-US"/>
              <a:t>Spatial deconvolution</a:t>
            </a:r>
          </a:p>
          <a:p>
            <a:r>
              <a:rPr lang="en-US"/>
              <a:t>Spatial clustering (niches, microenvironments)</a:t>
            </a:r>
          </a:p>
          <a:p>
            <a:r>
              <a:rPr lang="en-US"/>
              <a:t>Spatial driven cell-cell communication</a:t>
            </a:r>
          </a:p>
          <a:p>
            <a:r>
              <a:rPr lang="en-US"/>
              <a:t>and </a:t>
            </a:r>
            <a:r>
              <a:rPr lang="en-US" err="1"/>
              <a:t>etc</a:t>
            </a:r>
            <a:r>
              <a:rPr lang="en-US"/>
              <a:t>…</a:t>
            </a:r>
          </a:p>
        </p:txBody>
      </p:sp>
      <p:sp>
        <p:nvSpPr>
          <p:cNvPr id="4" name="TextBox 3">
            <a:extLst>
              <a:ext uri="{FF2B5EF4-FFF2-40B4-BE49-F238E27FC236}">
                <a16:creationId xmlns:a16="http://schemas.microsoft.com/office/drawing/2014/main" id="{58BD27B3-2AEC-0E49-A866-2A24087D1FC5}"/>
              </a:ext>
            </a:extLst>
          </p:cNvPr>
          <p:cNvSpPr txBox="1"/>
          <p:nvPr/>
        </p:nvSpPr>
        <p:spPr>
          <a:xfrm>
            <a:off x="399457" y="6225536"/>
            <a:ext cx="6059672" cy="261610"/>
          </a:xfrm>
          <a:prstGeom prst="rect">
            <a:avLst/>
          </a:prstGeom>
          <a:noFill/>
        </p:spPr>
        <p:txBody>
          <a:bodyPr wrap="none" rtlCol="0">
            <a:spAutoFit/>
          </a:bodyPr>
          <a:lstStyle/>
          <a:p>
            <a:r>
              <a:rPr lang="en-US" sz="1100"/>
              <a:t>https://</a:t>
            </a:r>
            <a:r>
              <a:rPr lang="en-US" sz="1100" err="1"/>
              <a:t>geneviatechnologies.com</a:t>
            </a:r>
            <a:r>
              <a:rPr lang="en-US" sz="1100"/>
              <a:t>/bioinformatics-analyses/spatial-transcriptomic-data-analysis/</a:t>
            </a:r>
          </a:p>
        </p:txBody>
      </p:sp>
      <p:sp>
        <p:nvSpPr>
          <p:cNvPr id="5" name="Slide Number Placeholder 4">
            <a:extLst>
              <a:ext uri="{FF2B5EF4-FFF2-40B4-BE49-F238E27FC236}">
                <a16:creationId xmlns:a16="http://schemas.microsoft.com/office/drawing/2014/main" id="{58781D39-66C1-1261-E524-E6A2875C7CBA}"/>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94729290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1B36A4-F55C-2224-2FEF-1062063751A7}"/>
              </a:ext>
            </a:extLst>
          </p:cNvPr>
          <p:cNvSpPr>
            <a:spLocks noGrp="1"/>
          </p:cNvSpPr>
          <p:nvPr>
            <p:ph type="title"/>
          </p:nvPr>
        </p:nvSpPr>
        <p:spPr>
          <a:xfrm>
            <a:off x="838200" y="2765884"/>
            <a:ext cx="10515600" cy="1325563"/>
          </a:xfrm>
        </p:spPr>
        <p:txBody>
          <a:bodyPr/>
          <a:lstStyle/>
          <a:p>
            <a:pPr algn="ctr"/>
            <a:r>
              <a:rPr lang="en-US"/>
              <a:t>Script Demonstration</a:t>
            </a:r>
          </a:p>
        </p:txBody>
      </p:sp>
      <p:sp>
        <p:nvSpPr>
          <p:cNvPr id="3" name="TextBox 2">
            <a:extLst>
              <a:ext uri="{FF2B5EF4-FFF2-40B4-BE49-F238E27FC236}">
                <a16:creationId xmlns:a16="http://schemas.microsoft.com/office/drawing/2014/main" id="{007732A1-45EF-8C13-66A0-EE46E70D67A4}"/>
              </a:ext>
            </a:extLst>
          </p:cNvPr>
          <p:cNvSpPr txBox="1"/>
          <p:nvPr/>
        </p:nvSpPr>
        <p:spPr>
          <a:xfrm>
            <a:off x="2735474" y="4181781"/>
            <a:ext cx="672631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GitHub repository link</a:t>
            </a:r>
          </a:p>
          <a:p>
            <a:pPr algn="ctr"/>
            <a:r>
              <a:rPr lang="en-US">
                <a:ea typeface="+mn-lt"/>
                <a:cs typeface="+mn-lt"/>
                <a:hlinkClick r:id="rId2"/>
              </a:rPr>
              <a:t>https://github.com/s-lenz/spatial_transcriptomics_hcc</a:t>
            </a:r>
          </a:p>
          <a:p>
            <a:pPr algn="ctr"/>
            <a:endParaRPr lang="en-US"/>
          </a:p>
        </p:txBody>
      </p:sp>
      <p:sp>
        <p:nvSpPr>
          <p:cNvPr id="2" name="Slide Number Placeholder 1">
            <a:extLst>
              <a:ext uri="{FF2B5EF4-FFF2-40B4-BE49-F238E27FC236}">
                <a16:creationId xmlns:a16="http://schemas.microsoft.com/office/drawing/2014/main" id="{CA2B89D0-6974-9D80-249D-544521A27029}"/>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614755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db864bc-821c-4dd3-a9c9-5002b5129ec6}" enabled="1" method="Standard" siteId="{0b95a125-791c-4f0a-9f9e-99e363117506}" contentBits="0"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3</Notes>
  <HiddenSlides>2</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RCTD - Spatial Transcriptomics Deconvolution</vt:lpstr>
      <vt:lpstr>What is Spatial Transcriptomics?</vt:lpstr>
      <vt:lpstr>Spatial Transcriptomics – 10X Visium (standard resolution) technology</vt:lpstr>
      <vt:lpstr>10X Visium pipeline</vt:lpstr>
      <vt:lpstr>10X Visium pipeline</vt:lpstr>
      <vt:lpstr>10X Visium pipeline</vt:lpstr>
      <vt:lpstr>10X Visium pipeline</vt:lpstr>
      <vt:lpstr>Spatial Deconvolution</vt:lpstr>
      <vt:lpstr>The goal of RCTD Deconvolution is to estimate the unknown cell type proportions </vt:lpstr>
      <vt:lpstr>RCTD Estimates the Cellular Composition of Each Spatial Spot</vt:lpstr>
      <vt:lpstr>RCTD deconvolution steps</vt:lpstr>
      <vt:lpstr>Spatial transcriptomics data analysis</vt:lpstr>
      <vt:lpstr>Script Demonstration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2026-07-11T16:27:22Z</dcterms:created>
  <dcterms:modified xsi:type="dcterms:W3CDTF">2026-07-16T16:28:37Z</dcterms:modified>
</cp:coreProperties>
</file>